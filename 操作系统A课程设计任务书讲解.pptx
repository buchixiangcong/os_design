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0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0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2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同学们好，欢迎大家参加操作系统A课程设计。本次课程设计的题目是“可持久化的操作系统核心模拟器”。在接下来的2周里，我们将一起深入操作系统的核心，亲手实现一个具备进程管理、调度、内存管理和持久化能力的模拟系统。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我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将详细解读任务要求、验收标准和得分要点，请大家认真听讲。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明确这次课程设计的核心目标：不是写一个简单的程序，而是要设计并实现一个高度仿真的操作系统核心模拟器。具体来说，你们需要模拟三大核心功能：进程管理、进程调度和内存管理。这个模拟器有三个显著特点：状态可持久化，意味着你的系统可以“存档读档”；采用多线程架构，模拟真实OS的并发处理；支持多实例共享，允许多个用户同时操作和观察同一个系统。最终，你们需要提交一个可执行程序、一份详细报告和完整的源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这是我们系统的总体架构，也是验收时老师会重点考察的部分。核心是前后台分离的多线程模型。前台线程负责和用户交互，后台线程负责执行核心逻辑，它们之间通过消息队列通信。所有的系统状态，比如PCB表、内存表，都是共享的，并且必须用互斥锁保护，这是多线程编程的关键。一个难点是多实例共享，你们需要实现让两个命令行窗口操作同一个系统状态，这是并发部分得分的关键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进程管理模块。这里有10个必须实现的命令，每个2分，共20分。大家看这个页面，我们把命令分为基础控制和视图调度两组。每个命令后面都明确了验收时要给老师看什么关键结果，比如`create_pcb`创建后必须用`show_pcb`核对所有字段，`ptree`必须是树形结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特别要注意得分规则：老师会随机抽5个命令测试，只要有一个不过关，这部分就要扣掉10分。请大家严格按照要求完成每一个命令的开发和测试。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调度器是本次课程设计的重中之重！这里的核心是实现多级反馈队列调度算法。规则很明确，新进程进Q0，时间片用完就降级。验收时，start_sched命令必须能启动后台线程，并实时输出像这样的调度日志，让老师看到进程在动。step命令则更关键，它不能只是简单地切换状态，必须输出完整的决策过程，包括当前所有队列的状态、为什么选这个进程、执行了多久。如果调度器只是静态修改状态，这部分将直接得0分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内存管理模块要求我们模拟动态分区的分配和释放。这里有8个命令，每个2分。关键的演示要点有三个：第一，要能制造内存碎片，并通过mem_stat命令显示出来。第二，要能执行compact命令来合并碎片，让老师看到碎片率从大于0变为0。第三，要能切换不同的内存分配算法，比如首次适应、最佳适应，并证明切换后alloc命令的行为确实发生了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持久化是另一个20分的大模块。核心是 save 和 load 两个命令。关键点在于，你保存的必须是系统的全部状态，特别是动态数据，比如进程已经运行了多久，它在哪个队列的哪个位置。给老师演示的时候，流程要清晰：先构建一个复杂的系统状态，然后 save，关掉程序再重新打开，最后用各种命令证明所有状态都精确恢复了。如果恢复后进程的已执行时间不对，或者队列顺序变了，都会被扣分。另外，文件必须是二进制格式，报告里要画出文件格式图。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多线程并发设计占16分。这里的核心是“真”多线程。你的架构必须有独立的前台和后台线程，通过消息队列通信，并且对PCB表、内存表这些共享数据结构的访问必须加锁保护。如果只是用单线程模拟，或者共享数据没加锁，这部分直接0分。难点在于多实例共享，你需要演示打开两个命令行窗口，在一个窗口里创建进程，另一个窗口能立刻看到。这部分是拉开差距的关键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视化展示主要考察`overview`命令，这是一个10分的模块。这个命令需要在一个屏幕里输出三个关键信息：进程树、内存的ASCII图，以及多级队列的情况。大家看这个示例，格式要清晰美观。验收时，老师会在系统状态变化后（比如调度器运行时）反复执行`overview`，如果你显示的内容一成不变，就会被扣分。这个命令是展示你系统完整性和美观度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这一页总结了老师现场验收时最可能测试的几个典型场景。大家可以提前按照这几个场景准备好演示流程。比如，调度动态性，就是要让老师看到你的调度日志在不停滚动；单步决策，就是要展示 step 命令的详细输出；持久化，就是要完整地演示保存、退出、重启、恢复的全过程。把这几个场景都练熟了，验收就成功了一大半。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这是本次课程设计的评分标准总览，总分100分。大家可以看到，持久化和进程类命令各占20分，是分值最高的模块。调度器、内存管理和多线程并发各占8到16分，也非常重要。请注意底部的特别注意事项，这些是严重扣分项。比如，如果你的程序根本跑不起来，总分不会超过20分；如果没有用真正的多线程，并发部分直接0分。大家一定要对照这个表，检查自己的实现是否覆盖了所有得分点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往届同学最容易犯的错误，我称之为“扣分重灾区”。第一，调度器做成假动态，只是改改字符串，这部分直接0分。第二，内存泄漏，杀了进程内存没释放，两边都要扣分。第三，持久化只存一半，动态信息没保存，扣分。第四，多线程有名无实，没有真正的后台线程或没加锁，0分。第五，可视化偷工减料，没按要求做树形图和ASCII图，扣分。最后，报告里该画的图没画，也要扣分。这些坑，请大家务必绕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这是整个课程设计的时间安排，总共32学时。我强烈建议大家严格按照这个进度来。前8个学时一定要把设计做好，想清楚你的数据结构、文件格式、流程图。中间12个学时集中编码。再用8个学时来调试，特别是多线程的调试，非常耗时。最后4个学时写报告和准备验收。合理规划时间，不要拖到最后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后，是提交材料的清单。请大家注意打包格式，文件名是“学号_姓名_OS课程设计.zip”。里面必须包含三样东西：第一，带注释的源代码；第二，一份完整的课程设计报告，报告里要求的图，比如文件格式图、流程图，一个都不能少；第三，一个可以直接运行的程序，并且附带一个初始的空物理文件，确保老师拿到手就能直接运行。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最后强调一下纪律要求。第一，严禁抄袭，无论是代码还是报告，一旦发现，零分处理并上报学院。第二，考勤很重要，缺席两次就没有成绩了。第三，遵守实习秩序，不要在机房玩游戏或者大声喧哗。希望大家都能认真对待，顺利完成课程设计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这里是一些常见问题的解答。关于编程语言，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只能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用C/C++。关于时间片，可以模拟，验收时可以调快。内存单位建议用KB。物理文件必须是二进制，这是硬性要求。关于多实例共享，这里提供了一个简单的实现思路，大家可以参考。如果还有其他问题，现在可以提问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50800" y="12700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8331200" y="1447800"/>
            <a:ext cx="2654300" cy="2679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50800" y="1473200"/>
            <a:ext cx="8420100" cy="26670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98500" y="1866900"/>
            <a:ext cx="3225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0" i="0" u="none" strike="noStrike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操作系统A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74650" y="3213100"/>
            <a:ext cx="88900" cy="36830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960100" y="1473200"/>
            <a:ext cx="1231900" cy="26670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76250" y="30988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可持久化的操作系统核心模拟</a:t>
            </a:r>
            <a:r>
              <a:rPr lang="en-US" sz="3200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器</a:t>
            </a:r>
            <a:r>
              <a:rPr lang="zh-CN" altLang="en-US" sz="3200" b="0" i="0" u="none" strike="noStrike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设计与实现</a:t>
            </a:r>
            <a:endParaRPr lang="zh-CN" altLang="en-US" sz="3200" b="0" i="0" u="none" strike="noStrike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100"/>
          </a:p>
        </p:txBody>
      </p:sp>
      <p:sp>
        <p:nvSpPr>
          <p:cNvPr id="9" name="AutoShape 9"/>
          <p:cNvSpPr/>
          <p:nvPr/>
        </p:nvSpPr>
        <p:spPr>
          <a:xfrm>
            <a:off x="1231900" y="4521200"/>
            <a:ext cx="5715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主讲教师：李巨虎 / 孟伟 / 范新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31900" y="4978400"/>
            <a:ext cx="5715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适用班级：信息学院各专业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31900" y="5511800"/>
            <a:ext cx="5715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日期：2026年6月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99500" y="3759200"/>
            <a:ext cx="203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北京林业大学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rcRect t="7809" b="7809"/>
          <a:stretch>
            <a:fillRect/>
          </a:stretch>
        </p:blipFill>
        <p:spPr>
          <a:xfrm>
            <a:off x="8255000" y="1295400"/>
            <a:ext cx="2743200" cy="2489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2800" y="4470400"/>
            <a:ext cx="4699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2800" y="5029200"/>
            <a:ext cx="4699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2800" y="5537200"/>
            <a:ext cx="4699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3600" y="6464300"/>
            <a:ext cx="2743200" cy="368300"/>
          </a:xfrm>
          <a:prstGeom prst="roundRect">
            <a:avLst>
              <a:gd name="adj" fmla="val 0"/>
            </a:avLst>
          </a:prstGeom>
          <a:solidFill>
            <a:srgbClr val="0E3A28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90500" y="3302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我们要做的是什么？—— 设计目标与核心功能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31900" y="1473200"/>
            <a:ext cx="9893300" cy="952500"/>
          </a:xfrm>
          <a:prstGeom prst="roundRect">
            <a:avLst>
              <a:gd name="adj" fmla="val 0"/>
            </a:avLst>
          </a:prstGeom>
          <a:solidFill>
            <a:srgbClr val="16583D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33500" y="1536700"/>
            <a:ext cx="971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63500" rIns="101600" bIns="635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核心目标：</a:t>
            </a:r>
            <a:r>
              <a:rPr lang="en-US" sz="13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设计并实现一个交互式的操作系统核心模拟器，通过模拟底层运行机制，完整复现操作系统对进程生命周期、调度策略及内存资源的管理逻辑，让抽象的内核原理可视化、可交互。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31900" y="2565400"/>
            <a:ext cx="3213100" cy="1587500"/>
          </a:xfrm>
          <a:prstGeom prst="roundRect">
            <a:avLst>
              <a:gd name="adj" fmla="val 0"/>
            </a:avLst>
          </a:prstGeom>
          <a:solidFill>
            <a:srgbClr val="20517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231900" y="2603500"/>
            <a:ext cx="3213100" cy="381000"/>
          </a:xfrm>
          <a:prstGeom prst="roundRect">
            <a:avLst>
              <a:gd name="adj" fmla="val 0"/>
            </a:avLst>
          </a:prstGeom>
          <a:solidFill>
            <a:srgbClr val="20517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282700" y="26035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进程管理模块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295400" y="3048000"/>
            <a:ext cx="3086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构建进程控制块(PCB)结构与进程树，精准模拟进程在创建、就绪、运行、阻塞到终止的全生命周期状态转换，还原OS对基础执行单元的底层管理逻辑。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572000" y="2565400"/>
            <a:ext cx="3213100" cy="1587500"/>
          </a:xfrm>
          <a:prstGeom prst="roundRect">
            <a:avLst>
              <a:gd name="adj" fmla="val 0"/>
            </a:avLst>
          </a:prstGeom>
          <a:solidFill>
            <a:srgbClr val="20517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2000" y="2603500"/>
            <a:ext cx="3213100" cy="381000"/>
          </a:xfrm>
          <a:prstGeom prst="roundRect">
            <a:avLst>
              <a:gd name="adj" fmla="val 0"/>
            </a:avLst>
          </a:prstGeom>
          <a:solidFill>
            <a:srgbClr val="20517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622800" y="26035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进程调度模块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635500" y="3048000"/>
            <a:ext cx="3086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实现经典的多级反馈队列(MLFQ)调度算法，支持自动时序执行与单步调试两种模式。直观展示不同优先级进程的抢占、轮转与时间片分配过程，体现调度的公平性与高效性。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912100" y="2565400"/>
            <a:ext cx="3213100" cy="1587500"/>
          </a:xfrm>
          <a:prstGeom prst="roundRect">
            <a:avLst>
              <a:gd name="adj" fmla="val 0"/>
            </a:avLst>
          </a:prstGeom>
          <a:solidFill>
            <a:srgbClr val="20517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912100" y="2603500"/>
            <a:ext cx="3213100" cy="381000"/>
          </a:xfrm>
          <a:prstGeom prst="roundRect">
            <a:avLst>
              <a:gd name="adj" fmla="val 0"/>
            </a:avLst>
          </a:prstGeom>
          <a:solidFill>
            <a:srgbClr val="20517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962900" y="26035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内存管理模块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975600" y="3048000"/>
            <a:ext cx="3086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模拟动态分区内存分配机制，支持首次适应等经典算法。实现内存块的申请、释放操作，并自动执行内存碎片紧缩，动态可视化内存资源的分配状态与空间变化。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231900" y="4254500"/>
            <a:ext cx="3213100" cy="1206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282700" y="4279900"/>
            <a:ext cx="311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核心特性：状态可持久化</a:t>
            </a:r>
            <a:endParaRPr lang="en-US" sz="13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295400" y="4622800"/>
            <a:ext cx="3086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系统运行状态支持二进制序列化存储，断点退出后重启可无缝恢复现场，实现“存档读档”式的连续模拟体验。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4572000" y="4254500"/>
            <a:ext cx="3213100" cy="1206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622800" y="4279900"/>
            <a:ext cx="311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核心特性：多线程架构</a:t>
            </a:r>
            <a:endParaRPr lang="en-US" sz="13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4635500" y="4622800"/>
            <a:ext cx="3086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前台交互线程响应用户指令，后台维护线程异步处理核心调度逻辑，有效解耦UI操作与内核计算，提升系统的并发处理能力。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912100" y="4254500"/>
            <a:ext cx="3213100" cy="1206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962900" y="4279900"/>
            <a:ext cx="311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核心特性：多实例共享</a:t>
            </a:r>
            <a:endParaRPr lang="en-US" sz="13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975600" y="4622800"/>
            <a:ext cx="3086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允许多个客户端窗口并发连接至同一内核状态，支持协作式模拟分析或教学场景下的同步视角观察。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231900" y="5537200"/>
            <a:ext cx="9893300" cy="889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20517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1270000" y="55626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可执行程序：</a:t>
            </a:r>
            <a:r>
              <a:rPr lang="en-US" sz="11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编译后的命令行工具，具备全功能交互与参数配置能力。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6"/>
          <p:cNvCxnSpPr/>
          <p:nvPr/>
        </p:nvCxnSpPr>
        <p:spPr>
          <a:xfrm rot="5335144">
            <a:off x="4108450" y="5943660"/>
            <a:ext cx="67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3A2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508500" y="55626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课程设计报告：</a:t>
            </a:r>
            <a:r>
              <a:rPr lang="en-US" sz="11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含需求分析、架构设计、算法实现及完整的测试结果分析。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8"/>
          <p:cNvCxnSpPr/>
          <p:nvPr/>
        </p:nvCxnSpPr>
        <p:spPr>
          <a:xfrm rot="5335144">
            <a:off x="7346950" y="5943660"/>
            <a:ext cx="67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3A2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747000" y="55626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工程源代码：</a:t>
            </a:r>
            <a:r>
              <a:rPr lang="en-US" sz="11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模块解耦、注释规范，包含核心算法与完整的测试用例集。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90500" y="330200"/>
            <a:ext cx="10795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系统总体架构——给老师看的交互模式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31900" y="1460500"/>
            <a:ext cx="2387600" cy="1778000"/>
          </a:xfrm>
          <a:prstGeom prst="roundRect">
            <a:avLst>
              <a:gd name="adj" fmla="val 0"/>
            </a:avLst>
          </a:prstGeom>
          <a:solidFill>
            <a:srgbClr val="20517C">
              <a:alpha val="9000"/>
            </a:srgbClr>
          </a:solidFill>
          <a:ln w="12700" cap="flat" cmpd="sng">
            <a:solidFill>
              <a:srgbClr val="20517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82700" y="152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前台用户交互层</a:t>
            </a:r>
            <a:endParaRPr lang="en-US" sz="15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82700" y="1968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多终端并发接入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每个用户对应独立交互线程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读取命令并封装消息入队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71352">
            <a:off x="2921000" y="2343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3A2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746500" y="1460500"/>
            <a:ext cx="2387600" cy="1778000"/>
          </a:xfrm>
          <a:prstGeom prst="roundRect">
            <a:avLst>
              <a:gd name="adj" fmla="val 0"/>
            </a:avLst>
          </a:prstGeom>
          <a:solidFill>
            <a:srgbClr val="D9A621">
              <a:alpha val="9000"/>
            </a:srgbClr>
          </a:solidFill>
          <a:ln w="12700" cap="flat" cmpd="sng">
            <a:solidFill>
              <a:srgbClr val="D9A62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797300" y="152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4820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共享消息队列</a:t>
            </a:r>
            <a:endParaRPr lang="en-US" sz="1500" b="1" i="0" u="none" strike="noStrike">
              <a:solidFill>
                <a:srgbClr val="B4820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797300" y="1968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解耦前后台执行逻辑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异步化处理用户请求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削峰填谷，缓冲高并发压力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71352">
            <a:off x="5435600" y="2343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3A2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248400" y="1460500"/>
            <a:ext cx="2387600" cy="1778000"/>
          </a:xfrm>
          <a:prstGeom prst="roundRect">
            <a:avLst>
              <a:gd name="adj" fmla="val 0"/>
            </a:avLst>
          </a:prstGeom>
          <a:solidFill>
            <a:srgbClr val="0E3A28">
              <a:alpha val="9000"/>
            </a:srgbClr>
          </a:solidFill>
          <a:ln w="12700" cap="flat" cmpd="sng">
            <a:solidFill>
              <a:srgbClr val="0E3A2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99200" y="152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后台维护线程</a:t>
            </a:r>
            <a:endParaRPr lang="en-US" sz="15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99200" y="1968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单例守护进程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持续消费队列任务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执行内核调度与状态变更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71352">
            <a:off x="7937500" y="2343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3A2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763000" y="1460500"/>
            <a:ext cx="2349500" cy="1778000"/>
          </a:xfrm>
          <a:prstGeom prst="roundRect">
            <a:avLst>
              <a:gd name="adj" fmla="val 0"/>
            </a:avLst>
          </a:prstGeom>
          <a:solidFill>
            <a:srgbClr val="643C78">
              <a:alpha val="9000"/>
            </a:srgbClr>
          </a:solidFill>
          <a:ln w="12700" cap="flat" cmpd="sng">
            <a:solidFill>
              <a:srgbClr val="643C7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788400" y="152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5028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持久化存储层</a:t>
            </a:r>
            <a:endParaRPr lang="en-US" sz="1500" b="1" i="0" u="none" strike="noStrike">
              <a:solidFill>
                <a:srgbClr val="5028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788400" y="1968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内存共享数据结构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(PCB表/内存分区表)</a:t>
            </a:r>
            <a:b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定期快照写入二进制文件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231900" y="3365500"/>
            <a:ext cx="3213100" cy="1587500"/>
          </a:xfrm>
          <a:prstGeom prst="roundRect">
            <a:avLst>
              <a:gd name="adj" fmla="val 0"/>
            </a:avLst>
          </a:prstGeom>
          <a:solidFill>
            <a:srgbClr val="20517C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282700" y="3403600"/>
            <a:ext cx="311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前台交互：快速响应与投递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282700" y="37846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作为系统的“入口”，前台线程不做复杂计算，仅负责读取用户在终端输入的操作指令。将指令标准化为消息对象后，立即投递至共享队列并返回，保证用户操作的即时反馈体验。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4572000" y="3365500"/>
            <a:ext cx="3213100" cy="1587500"/>
          </a:xfrm>
          <a:prstGeom prst="roundRect">
            <a:avLst>
              <a:gd name="adj" fmla="val 0"/>
            </a:avLst>
          </a:prstGeom>
          <a:solidFill>
            <a:srgbClr val="0E3A28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622800" y="3403600"/>
            <a:ext cx="311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后台执行：核心逻辑驱动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4622800" y="37846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后台线程是真正的“大脑”。它独立循环监听队列，取出任务后执行如进程创建、内存分配等核心内核操作。执行完成后，不仅要更新内存中的系统状态，还要负责将关键数据定期持久化到物理磁盘。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912100" y="3365500"/>
            <a:ext cx="3213100" cy="1587500"/>
          </a:xfrm>
          <a:prstGeom prst="roundRect">
            <a:avLst>
              <a:gd name="adj" fmla="val 0"/>
            </a:avLst>
          </a:prstGeom>
          <a:solidFill>
            <a:srgbClr val="B45014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962900" y="3403600"/>
            <a:ext cx="311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01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数据层：临界区安全防护</a:t>
            </a:r>
            <a:endParaRPr lang="en-US" sz="1400" b="1" i="0" u="none" strike="noStrike">
              <a:solidFill>
                <a:srgbClr val="B4501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962900" y="37846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共享数据结构是系统状态的载体。所有线程在访问（读/写）PCB表或内存分区表时，必须严格通过互斥锁（Mutex）进行临界区保护，杜绝并发修改带来的数据不一致问题。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231900" y="5080000"/>
            <a:ext cx="9906000" cy="1333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1333500" y="5118100"/>
            <a:ext cx="4635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397000" y="51435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282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核心技术难点：跨实例并发共享</a:t>
            </a:r>
            <a:endParaRPr lang="en-US" sz="1400" b="1" i="0" u="none" strike="noStrike">
              <a:solidFill>
                <a:srgbClr val="B4282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1397000" y="5499100"/>
            <a:ext cx="450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8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突破单进程地址空间限制，实现多个独立命令行客户端（实例）对同一份内核状态的共享。需设计高效的跨线程/跨实例通信机制，确保数据同步的实时性。</a:t>
            </a:r>
            <a:endParaRPr lang="en-US" sz="1200" b="0" i="0" u="none" strike="noStrike">
              <a:solidFill>
                <a:srgbClr val="28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38" name="Connector 38"/>
          <p:cNvCxnSpPr/>
          <p:nvPr/>
        </p:nvCxnSpPr>
        <p:spPr>
          <a:xfrm rot="5359557">
            <a:off x="5581650" y="5740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223000" y="5118100"/>
            <a:ext cx="4635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286500" y="51435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老师现场验收核心标准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286500" y="5499100"/>
            <a:ext cx="450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8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双窗口联动测试：开启两个终端实例，在A实例创建进程后，B实例刷新必须立即显示新进程；反之亦然。操作过程中系统不能出现死锁、数据错乱或无响应。</a:t>
            </a:r>
            <a:endParaRPr lang="en-US" sz="1200" b="0" i="0" u="none" strike="noStrike">
              <a:solidFill>
                <a:srgbClr val="28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90500" y="330200"/>
            <a:ext cx="1016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进程管理——你要实现什么？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31900" y="1460500"/>
            <a:ext cx="9842500" cy="571500"/>
          </a:xfrm>
          <a:prstGeom prst="roundRect">
            <a:avLst>
              <a:gd name="adj" fmla="val 0"/>
            </a:avLst>
          </a:prstGeom>
          <a:solidFill>
            <a:srgbClr val="16583D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95400" y="1485900"/>
            <a:ext cx="971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【验收清单】共需实现10个核心命令（每题2分，合计20分），需严格按预期效果向老师演示功能执行结果。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31900" y="2095500"/>
            <a:ext cx="4724400" cy="2222500"/>
          </a:xfrm>
          <a:prstGeom prst="roundRect">
            <a:avLst>
              <a:gd name="adj" fmla="val 0"/>
            </a:avLst>
          </a:prstGeom>
          <a:solidFill>
            <a:srgbClr val="F2F7F5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95400" y="2133600"/>
            <a:ext cx="45974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基础控制组：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1. create_pcb：新建进程后，用show_pcb核对PID、状态、运行时间等字段准确无误。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 kill_pcb &lt;pid&gt;：需确认进程彻底消失，且内存资源被正确回收。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3. block_pcb &lt;pid&gt;：进程状态转为BLOCKED并移出调度队列。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4. wakeup_pcb &lt;pid&gt;：状态恢复为READY，重新进入就绪队列等待调度。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5. show_pcb &lt;pid&gt;：格式化输出进程完整快照，含优先级、内存占用等关键元数据。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380355">
            <a:off x="4984750" y="3200418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223000" y="2095500"/>
            <a:ext cx="4724400" cy="2222500"/>
          </a:xfrm>
          <a:prstGeom prst="roundRect">
            <a:avLst>
              <a:gd name="adj" fmla="val 0"/>
            </a:avLst>
          </a:prstGeom>
          <a:solidFill>
            <a:srgbClr val="F2F7F5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2133600"/>
            <a:ext cx="45974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视图与调度组：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6. list_pcb：简洁列表形式呈现所有活跃进程关键状态。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7. ptree：必须输出层级分明的树形结构，清晰展示父子进程血缘关系。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8. suspend &lt;pid&gt;：进程挂起，保留状态但退出调度序列。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9. resume &lt;pid&gt;：恢复挂起进程，使其重新参与CPU竞争。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10. renice：动态调整优先级后，需验证队列排序位置实时更新。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231900" y="4381500"/>
            <a:ext cx="4724400" cy="1968500"/>
          </a:xfrm>
          <a:prstGeom prst="roundRect">
            <a:avLst>
              <a:gd name="adj" fmla="val 0"/>
            </a:avLst>
          </a:prstGeom>
          <a:solidFill>
            <a:srgbClr val="16583D">
              <a:alpha val="7000"/>
            </a:srgbClr>
          </a:solidFill>
          <a:ln w="12700" cap="flat" cmpd="sng">
            <a:solidFill>
              <a:srgbClr val="16583D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95400" y="4419600"/>
            <a:ext cx="4597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⚠️ 现场随机抽查机制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295400" y="4826000"/>
            <a:ext cx="459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验收时，老师将从10个命令中随机抽取5个进行现场实操测试。这意味着仅完成部分命令无法保证通过，必须确保全量功能均已开发完毕且无基础Bug。建议提前进行全覆盖自测，避免因个别命令未完成影响整体评分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4381500"/>
            <a:ext cx="4724400" cy="1968500"/>
          </a:xfrm>
          <a:prstGeom prst="roundRect">
            <a:avLst>
              <a:gd name="adj" fmla="val 0"/>
            </a:avLst>
          </a:prstGeom>
          <a:solidFill>
            <a:srgbClr val="C0392B">
              <a:alpha val="7000"/>
            </a:srgbClr>
          </a:solidFill>
          <a:ln w="12700" cap="flat" cmpd="sng">
            <a:solidFill>
              <a:srgbClr val="C0392B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86500" y="4419600"/>
            <a:ext cx="4597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❌ 核心红线：一票否决规则</a:t>
            </a:r>
            <a:endParaRPr lang="en-US" sz="1400" b="1" i="0" u="none" strike="noStrike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86500" y="4826000"/>
            <a:ext cx="459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若被抽查的5个命令中，任意一个未实现或存在严重逻辑错误（如程序崩溃、数据严重失真），则该模块20分将直接扣除10分！特别是`ptree`树形结构、内存回收等核心项，是老师重点关注的扣分点，请务必作为开发优先级最高的任务完成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90500" y="330200"/>
            <a:ext cx="10795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调度器——如何“动”起来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06500" y="1587500"/>
            <a:ext cx="3238500" cy="2921000"/>
          </a:xfrm>
          <a:prstGeom prst="roundRect">
            <a:avLst>
              <a:gd name="adj" fmla="val 0"/>
            </a:avLst>
          </a:prstGeom>
          <a:solidFill>
            <a:srgbClr val="16583D">
              <a:alpha val="7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1651000"/>
            <a:ext cx="3111500" cy="444500"/>
          </a:xfrm>
          <a:prstGeom prst="roundRect">
            <a:avLst>
              <a:gd name="adj" fmla="val 0"/>
            </a:avLst>
          </a:prstGeom>
          <a:solidFill>
            <a:srgbClr val="16583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95400" y="16764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核心规则：多级反馈队列机制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70000" y="2222500"/>
            <a:ext cx="3111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三级队列Q0/Q1/Q2，时间片按2→4→8倍增。新进程默认入Q0，时间片耗尽则降级至下一级；阻塞唤醒后需按策略回归原级或重置Q0。调度时严格遵循“高优先级队列优先”，仅当高优先级队列为空时才调度低优先级队列，形成动态的优先级反馈闭环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5053">
            <a:off x="3048000" y="30416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1587500"/>
            <a:ext cx="3238500" cy="2921000"/>
          </a:xfrm>
          <a:prstGeom prst="roundRect">
            <a:avLst>
              <a:gd name="adj" fmla="val 0"/>
            </a:avLst>
          </a:prstGeom>
          <a:solidFill>
            <a:srgbClr val="16583D">
              <a:alpha val="7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635500" y="1651000"/>
            <a:ext cx="3111500" cy="444500"/>
          </a:xfrm>
          <a:prstGeom prst="roundRect">
            <a:avLst>
              <a:gd name="adj" fmla="val 0"/>
            </a:avLst>
          </a:prstGeom>
          <a:solidFill>
            <a:srgbClr val="16583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660900" y="16764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关键命令：8分功能验收点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635500" y="2222500"/>
            <a:ext cx="3111500" cy="50419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1658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673600" y="2155825"/>
            <a:ext cx="3124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start_sched (2分)：</a:t>
            </a: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启动后台调度线程，终端必须实时输出进程分配、时间片消耗的调度日志流。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635500" y="2800985"/>
            <a:ext cx="3111500" cy="601345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1658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673600" y="27813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stop_sched (2分)：</a:t>
            </a: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安全暂停调度，精准冻结当前所有进程、队列状态与时间片剩余值，支持断点恢复。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635500" y="3439795"/>
            <a:ext cx="3111500" cy="49022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1658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673600" y="3462020"/>
            <a:ext cx="3048000" cy="377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step (2分)：</a:t>
            </a: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单步执行核心，必须完整打印队列快照、选程依据、执行时长及最终状态变更。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5385053">
            <a:off x="6413500" y="30416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937500" y="1587500"/>
            <a:ext cx="3175000" cy="2921000"/>
          </a:xfrm>
          <a:prstGeom prst="roundRect">
            <a:avLst>
              <a:gd name="adj" fmla="val 0"/>
            </a:avLst>
          </a:prstGeom>
          <a:solidFill>
            <a:srgbClr val="16583D">
              <a:alpha val="7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001000" y="1651000"/>
            <a:ext cx="3048000" cy="444500"/>
          </a:xfrm>
          <a:prstGeom prst="roundRect">
            <a:avLst>
              <a:gd name="adj" fmla="val 0"/>
            </a:avLst>
          </a:prstGeom>
          <a:solidFill>
            <a:srgbClr val="16583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026400" y="1676400"/>
            <a:ext cx="298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演示重点：动态效果呈现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001000" y="22225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构建3个CPU密集型测试进程，执行start_sched后，需直观展示进程在不同队列间的升降级与交替运行。执行step时，必须现场展示“队列当前状态→调度决策逻辑→执行结果”的完整文本链路，让老师清晰看到调度器的动态计算过程而非静态数据修改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206500" y="4699000"/>
            <a:ext cx="9906000" cy="1524000"/>
          </a:xfrm>
          <a:prstGeom prst="roundRect">
            <a:avLst>
              <a:gd name="adj" fmla="val 0"/>
            </a:avLst>
          </a:prstGeom>
          <a:solidFill>
            <a:srgbClr val="FFEBCD">
              <a:alpha val="85000"/>
            </a:srgbClr>
          </a:solidFill>
          <a:ln w="12700" cap="flat" cmpd="sng">
            <a:solidFill>
              <a:srgbClr val="E67E22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1295400" y="4762500"/>
            <a:ext cx="971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⚠️ 核心红线：拒绝“假调度”，必须实现真实的动态执行！</a:t>
            </a:r>
            <a:endParaRPr lang="en-US" sz="1400" b="1" i="0" u="none" strike="noStrike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295400" y="5207000"/>
            <a:ext cx="971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本模块是课设的核心考核点，若仅在内存中静态修改进程状态数值，而无真实的时间片推进、无终端的实时日志输出、无step命令的决策推导过程，将直接判定为功能未实现（记0分）。验收的关键是让老师看到“进程在跑，调度在算”的动态行为，而非死的状态变更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20"/>
          <p:cNvSpPr/>
          <p:nvPr/>
        </p:nvSpPr>
        <p:spPr>
          <a:xfrm>
            <a:off x="4635500" y="3967480"/>
            <a:ext cx="3111500" cy="49022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1658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AutoShape 21"/>
          <p:cNvSpPr/>
          <p:nvPr/>
        </p:nvSpPr>
        <p:spPr>
          <a:xfrm>
            <a:off x="4635500" y="3966845"/>
            <a:ext cx="3048000" cy="3702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restart_sched</a:t>
            </a:r>
            <a:r>
              <a:rPr lang="en-US" sz="12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(2分)：</a:t>
            </a: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重启调度</a:t>
            </a:r>
            <a:endParaRPr lang="zh-CN" alt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3600" y="64643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dist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90500" y="330200"/>
            <a:ext cx="889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内存管理——动态分区模拟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70000" y="1524000"/>
            <a:ext cx="9779000" cy="457200"/>
          </a:xfrm>
          <a:prstGeom prst="roundRect">
            <a:avLst>
              <a:gd name="adj" fmla="val 0"/>
            </a:avLst>
          </a:prstGeom>
          <a:solidFill>
            <a:srgbClr val="16583D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33500" y="15494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核心验收：8项内存操作命令考核标准（共16分）</a:t>
            </a:r>
            <a:endParaRPr lang="en-US" sz="15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70000" y="2159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EBF7F2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333500" y="2197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alloc &lt;size&gt;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333500" y="2540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功能：动态申请内存空间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333500" y="2857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验收：需正确返回分配起始地址；若空间不足，输出失败提示信息。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695700" y="2159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EBF7F2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759200" y="2197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free_mem &lt;addr&gt;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759200" y="2540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功能：释放指定地址内存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759200" y="2857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验收：执行后调用show_mem，验证对应内存块已标记为空闲状态。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121400" y="2159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EBF7F2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184900" y="2197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show_mem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184900" y="2540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功能：可视化内存布局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184900" y="2857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验收：清晰展示已分配块和空闲块的链表结构，包含地址与大小信息。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547100" y="2159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EBF7F2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610600" y="2197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compact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610600" y="2540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功能：内存碎片紧缩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610600" y="2857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验收：将所有离散空闲区合并，形成单一的大空闲块，消除外部碎片。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270000" y="3683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333500" y="3721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mem_stat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333500" y="4064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功能：内存使用统计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1333500" y="4381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验收：准确输出总内存、已用空间、空闲空间及当前内存碎片率数值。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3695700" y="3683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3759200" y="3721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set_alloc_algo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3759200" y="4064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功能：切换分配策略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3759200" y="4381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验收：支持FF/BF/WF切换，后续alloc操作需严格遵循对应算法逻辑。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121400" y="3683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184900" y="3721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pgfault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6184900" y="4064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功能：模拟缺页中断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184900" y="4381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验收：触发后输出标准缺页提示，体现虚拟内存的异常处理机制。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8547100" y="3683000"/>
            <a:ext cx="2336800" cy="14605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8610600" y="3721100"/>
            <a:ext cx="2209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swap_out &lt;pid&gt;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8610600" y="4064000"/>
            <a:ext cx="2209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功能：进程内存换出</a:t>
            </a:r>
            <a:endParaRPr lang="en-US" sz="13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8610600" y="43815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验收：执行后show_mem中该进程块消失，模拟交换空间的写入操作。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5" name="AutoShape 45"/>
          <p:cNvSpPr/>
          <p:nvPr/>
        </p:nvSpPr>
        <p:spPr>
          <a:xfrm>
            <a:off x="1270000" y="5270500"/>
            <a:ext cx="9652000" cy="1079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1295400" y="5295900"/>
            <a:ext cx="3124200" cy="1016000"/>
          </a:xfrm>
          <a:prstGeom prst="roundRect">
            <a:avLst>
              <a:gd name="adj" fmla="val 0"/>
            </a:avLst>
          </a:prstGeom>
          <a:solidFill>
            <a:srgbClr val="16583D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1358900" y="5321300"/>
            <a:ext cx="299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关键演示：制造内存碎片</a:t>
            </a:r>
            <a:endParaRPr lang="en-US" sz="13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1358900" y="5651500"/>
            <a:ext cx="2997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多次alloc后释放中间块，调用mem_stat验证碎片率&gt;0，直观展示外部碎片产生过程。</a:t>
            </a:r>
            <a:endParaRPr lang="en-US" sz="11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9" name="Connector 49"/>
          <p:cNvCxnSpPr/>
          <p:nvPr/>
        </p:nvCxnSpPr>
        <p:spPr>
          <a:xfrm rot="5350892">
            <a:off x="4038600" y="57975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AutoShape 50"/>
          <p:cNvSpPr/>
          <p:nvPr/>
        </p:nvSpPr>
        <p:spPr>
          <a:xfrm>
            <a:off x="4508500" y="5295900"/>
            <a:ext cx="3124200" cy="1016000"/>
          </a:xfrm>
          <a:prstGeom prst="roundRect">
            <a:avLst>
              <a:gd name="adj" fmla="val 0"/>
            </a:avLst>
          </a:prstGeom>
          <a:solidFill>
            <a:srgbClr val="16583D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4572000" y="5321300"/>
            <a:ext cx="299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关键演示：执行紧缩操作</a:t>
            </a:r>
            <a:endParaRPr lang="en-US" sz="13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2" name="AutoShape 52"/>
          <p:cNvSpPr/>
          <p:nvPr/>
        </p:nvSpPr>
        <p:spPr>
          <a:xfrm>
            <a:off x="4572000" y="5651500"/>
            <a:ext cx="2997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执行compact命令后，再次查看mem_stat，需证明碎片率降为0，空闲区连续。</a:t>
            </a:r>
            <a:endParaRPr lang="en-US" sz="11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53" name="Connector 53"/>
          <p:cNvCxnSpPr/>
          <p:nvPr/>
        </p:nvCxnSpPr>
        <p:spPr>
          <a:xfrm rot="5350892">
            <a:off x="7251700" y="57975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AutoShape 54"/>
          <p:cNvSpPr/>
          <p:nvPr/>
        </p:nvSpPr>
        <p:spPr>
          <a:xfrm>
            <a:off x="7721600" y="5295900"/>
            <a:ext cx="3124200" cy="1016000"/>
          </a:xfrm>
          <a:prstGeom prst="roundRect">
            <a:avLst>
              <a:gd name="adj" fmla="val 0"/>
            </a:avLst>
          </a:prstGeom>
          <a:solidFill>
            <a:srgbClr val="16583D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AutoShape 55"/>
          <p:cNvSpPr/>
          <p:nvPr/>
        </p:nvSpPr>
        <p:spPr>
          <a:xfrm>
            <a:off x="7785100" y="5321300"/>
            <a:ext cx="299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关键演示：算法差异验证</a:t>
            </a:r>
            <a:endParaRPr lang="en-US" sz="13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6" name="AutoShape 56"/>
          <p:cNvSpPr/>
          <p:nvPr/>
        </p:nvSpPr>
        <p:spPr>
          <a:xfrm>
            <a:off x="7785100" y="5651500"/>
            <a:ext cx="2997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切换FF/BF/WF三种算法，相同申请场景下，观察alloc选择的空闲块不同。</a:t>
            </a:r>
            <a:endParaRPr lang="en-US" sz="11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3600" y="64643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dist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90500" y="330200"/>
            <a:ext cx="10795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持久化——静态保存与恢复（20分）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31900" y="1524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6583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95400" y="1562100"/>
            <a:ext cx="476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save 命令（核心：全量快照）</a:t>
            </a:r>
            <a:endParaRPr lang="en-US" sz="16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95400" y="19304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将当前操作系统内核的全部运行状态，包括进程、内存、调度等，完整序列化并写入</a:t>
            </a: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二进制物理文件</a:t>
            </a: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中，形成系统的“静态镜像”，需确保数据无遗漏、无错误。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48400" y="1524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6583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11900" y="1562100"/>
            <a:ext cx="476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load 命令（核心：环境复原）</a:t>
            </a:r>
            <a:endParaRPr lang="en-US" sz="16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11900" y="19304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程序启动时自动触发的关键流程，从指定二进制文件中反序列化数据，将内核恢复至执行 save 时的</a:t>
            </a: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精确运行状态</a:t>
            </a: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，是验证持久化功能正确性的核心入口。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231900" y="2857500"/>
            <a:ext cx="1917700" cy="1587500"/>
          </a:xfrm>
          <a:prstGeom prst="roundRect">
            <a:avLst>
              <a:gd name="adj" fmla="val 0"/>
            </a:avLst>
          </a:prstGeom>
          <a:solidFill>
            <a:srgbClr val="16583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70000" y="28829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进程信息 PCB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270000" y="32512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必须完整包含所有进程控制块（PCB）的字段内容，如PID、状态、优先级、资源占用标记等元数据。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225800" y="2857500"/>
            <a:ext cx="1917700" cy="1587500"/>
          </a:xfrm>
          <a:prstGeom prst="roundRect">
            <a:avLst>
              <a:gd name="adj" fmla="val 0"/>
            </a:avLst>
          </a:prstGeom>
          <a:solidFill>
            <a:srgbClr val="16583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263900" y="28829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进程树结构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263900" y="32512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准确记录进程间的父子层级与依赖关系，恢复后进程树的拓扑结构需与保存前完全一致。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219700" y="2857500"/>
            <a:ext cx="1917700" cy="1587500"/>
          </a:xfrm>
          <a:prstGeom prst="roundRect">
            <a:avLst>
              <a:gd name="adj" fmla="val 0"/>
            </a:avLst>
          </a:prstGeom>
          <a:solidFill>
            <a:srgbClr val="16583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257800" y="28829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多级调度队列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257800" y="32512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保存各优先级队列的顺序、队列内进程的排列次序以及调度器当前的上下文指针。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213600" y="2857500"/>
            <a:ext cx="1917700" cy="1587500"/>
          </a:xfrm>
          <a:prstGeom prst="roundRect">
            <a:avLst>
              <a:gd name="adj" fmla="val 0"/>
            </a:avLst>
          </a:prstGeom>
          <a:solidFill>
            <a:srgbClr val="16583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251700" y="28829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内存分区表</a:t>
            </a:r>
            <a:endParaRPr lang="en-US" sz="14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251700" y="32512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包含空闲分区链表、已分配内存块的映射关系及内存分配算法的当前执行状态。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207500" y="2857500"/>
            <a:ext cx="1917700" cy="1587500"/>
          </a:xfrm>
          <a:prstGeom prst="roundRect">
            <a:avLst>
              <a:gd name="adj" fmla="val 0"/>
            </a:avLst>
          </a:prstGeom>
          <a:solidFill>
            <a:srgbClr val="16583D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245600" y="28829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关键动态数据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245600" y="32512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验收核心！必须保存进程已执行CPU时间、在队列中的精确位置，这是判定恢复精度的关键。</a:t>
            </a:r>
            <a:endParaRPr lang="en-US" sz="12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1231900" y="4572000"/>
            <a:ext cx="9906000" cy="1714500"/>
          </a:xfrm>
          <a:prstGeom prst="roundRect">
            <a:avLst>
              <a:gd name="adj" fmla="val 0"/>
            </a:avLst>
          </a:prstGeom>
          <a:solidFill>
            <a:srgbClr val="F2F7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231900" y="4635500"/>
            <a:ext cx="1905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231900" y="4660900"/>
            <a:ext cx="1905000" cy="304800"/>
          </a:xfrm>
          <a:prstGeom prst="roundRect">
            <a:avLst>
              <a:gd name="adj" fmla="val 0"/>
            </a:avLst>
          </a:prstGeom>
          <a:solidFill>
            <a:srgbClr val="16583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1231900" y="4660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STEP 1 · 造状态</a:t>
            </a:r>
            <a:endParaRPr lang="en-US" sz="13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270000" y="5016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创建多进程，运行调度算法并分配内存，人为构建非空、非初始的复杂内核运行环境。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3213100" y="4635500"/>
            <a:ext cx="1905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3213100" y="4660900"/>
            <a:ext cx="1905000" cy="304800"/>
          </a:xfrm>
          <a:prstGeom prst="roundRect">
            <a:avLst>
              <a:gd name="adj" fmla="val 0"/>
            </a:avLst>
          </a:prstGeom>
          <a:solidFill>
            <a:srgbClr val="16583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3213100" y="4660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STEP 2 · 执行Save</a:t>
            </a:r>
            <a:endParaRPr lang="en-US" sz="13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3251200" y="5016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输入 save 指令，触发内核状态的全量序列化逻辑，生成并落地二进制持久化文件。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5194300" y="4635500"/>
            <a:ext cx="1905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5194300" y="4660900"/>
            <a:ext cx="1905000" cy="304800"/>
          </a:xfrm>
          <a:prstGeom prst="roundRect">
            <a:avLst>
              <a:gd name="adj" fmla="val 0"/>
            </a:avLst>
          </a:prstGeom>
          <a:solidFill>
            <a:srgbClr val="16583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5194300" y="4660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STEP 3 · 彻底退出</a:t>
            </a:r>
            <a:endParaRPr lang="en-US" sz="13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5232400" y="5016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关闭所有终端窗口与程序进程，确保内核完全终止，模拟真实的系统停机或异常崩溃场景。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45"/>
          <p:cNvSpPr/>
          <p:nvPr/>
        </p:nvSpPr>
        <p:spPr>
          <a:xfrm>
            <a:off x="7175500" y="4635500"/>
            <a:ext cx="1905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7175500" y="4660900"/>
            <a:ext cx="1905000" cy="304800"/>
          </a:xfrm>
          <a:prstGeom prst="roundRect">
            <a:avLst>
              <a:gd name="adj" fmla="val 0"/>
            </a:avLst>
          </a:prstGeom>
          <a:solidFill>
            <a:srgbClr val="16583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7175500" y="4660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STEP 4 · 重启Load</a:t>
            </a:r>
            <a:endParaRPr lang="en-US" sz="13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7213600" y="5016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重新启动内核程序，系统自动加载外部二进制文件，执行数据解析与状态逆向恢复。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9156700" y="4635500"/>
            <a:ext cx="1905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AutoShape 50"/>
          <p:cNvSpPr/>
          <p:nvPr/>
        </p:nvSpPr>
        <p:spPr>
          <a:xfrm>
            <a:off x="9156700" y="4660900"/>
            <a:ext cx="1905000" cy="304800"/>
          </a:xfrm>
          <a:prstGeom prst="roundRect">
            <a:avLst>
              <a:gd name="adj" fmla="val 0"/>
            </a:avLst>
          </a:prstGeom>
          <a:solidFill>
            <a:srgbClr val="16583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9156700" y="4660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STEP 5 · 结果核验</a:t>
            </a:r>
            <a:endParaRPr lang="en-US" sz="13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2" name="AutoShape 52"/>
          <p:cNvSpPr/>
          <p:nvPr/>
        </p:nvSpPr>
        <p:spPr>
          <a:xfrm>
            <a:off x="9194800" y="5016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执行 list_pcb、show_mem 等调试命令，确认所有状态与退出前完全一致，通过即得分。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63600" y="64643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dist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90500" y="330200"/>
            <a:ext cx="1016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多线程并发设计（18分）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1524000"/>
            <a:ext cx="3175000" cy="1841500"/>
          </a:xfrm>
          <a:prstGeom prst="roundRect">
            <a:avLst>
              <a:gd name="adj" fmla="val 0"/>
            </a:avLst>
          </a:prstGeom>
          <a:solidFill>
            <a:srgbClr val="E6F4FF">
              <a:alpha val="100000"/>
            </a:srgbClr>
          </a:solidFill>
          <a:ln w="12700" cap="flat" cmpd="sng">
            <a:solidFill>
              <a:srgbClr val="20517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70000" y="1587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前台交互线程：输入与封装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203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负责读取用户在命令行的输入指令，将复杂的命令参数封装为统一的消息对象，随后将消息安全投递至全局共享消息队列，完成交互层与核心业务逻辑的解耦。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46600" y="1524000"/>
            <a:ext cx="3175000" cy="1841500"/>
          </a:xfrm>
          <a:prstGeom prst="roundRect">
            <a:avLst>
              <a:gd name="adj" fmla="val 0"/>
            </a:avLst>
          </a:prstGeom>
          <a:solidFill>
            <a:srgbClr val="E6FAEB">
              <a:alpha val="100000"/>
            </a:srgbClr>
          </a:solidFill>
          <a:ln w="12700" cap="flat" cmpd="sng">
            <a:solidFill>
              <a:srgbClr val="0E3A2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10100" y="1587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后台维护线程：执行与处理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10100" y="203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独立于前台的常驻工作线程，循环监听消息队列。取出任务后解析消息类型，执行进程创建、调度、销毁等底层操作，并将执行结果回写至共享状态区，实现异步处理。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874000" y="1524000"/>
            <a:ext cx="3175000" cy="1841500"/>
          </a:xfrm>
          <a:prstGeom prst="roundRect">
            <a:avLst>
              <a:gd name="adj" fmla="val 0"/>
            </a:avLst>
          </a:prstGeom>
          <a:solidFill>
            <a:srgbClr val="FFF7E6">
              <a:alpha val="100000"/>
            </a:srgbClr>
          </a:solidFill>
          <a:ln w="12700" cap="flat" cmpd="sng">
            <a:solidFill>
              <a:srgbClr val="D9770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937500" y="1587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同步互斥：临界资源保护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937500" y="203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采用“消息队列 + 互斥锁/条件变量”的双重保障。消息队列实现生产消费解耦，互斥锁严格控制对PCB表、内存分配表等共享数据的并发访问，杜绝脏读与数据不一致。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206500" y="3429000"/>
            <a:ext cx="9842500" cy="1333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333500" y="349250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实战演示：多实例并发共享（拉开分差的关键）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333500" y="3937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E2E8F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397000" y="3962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051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演示环境搭建：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同时启动两个独立的命令行终端（实例A、B），确保二者挂载同一套底层共享数据文件/内存映射区。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37502">
            <a:off x="5810250" y="4279958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223000" y="3937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E2E8F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86500" y="3962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E3A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关键验证动作：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A端执行创建/调度命令，B端执行overview刷新，需实时看到新进程及状态变化，证明跨实例数据同步有效。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206500" y="4826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20517C">
              <a:alpha val="9000"/>
            </a:srgbClr>
          </a:solidFill>
          <a:ln w="12700" cap="flat" cmpd="sng">
            <a:solidFill>
              <a:srgbClr val="20517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295400" y="4889500"/>
            <a:ext cx="463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基础架构 · 10分（核心红线）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295400" y="5270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必须严格实现前后台线程物理分离与消息队列通信。若仅用单线程模拟多任务，或对临界资源未加锁保护，本项直接记0分。这是课设通过的基础门槛。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59500" y="4826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0E3A28">
              <a:alpha val="9000"/>
            </a:srgbClr>
          </a:solidFill>
          <a:ln w="12700" cap="flat" cmpd="sng">
            <a:solidFill>
              <a:srgbClr val="0E3A2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248400" y="4889500"/>
            <a:ext cx="463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多实例共享 · 8分（能力体现）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48400" y="5270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完成跨终端的并发访问与状态一致性验证。这不仅是对多线程的考验，更是对进程间通信（IPC）机制设计的实战检验，是获得高分的重要差异化表现。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90500" y="330200"/>
            <a:ext cx="10795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可视化展示——overview 命令（10分）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31900" y="1587500"/>
            <a:ext cx="3200400" cy="1714500"/>
          </a:xfrm>
          <a:prstGeom prst="roundRect">
            <a:avLst>
              <a:gd name="adj" fmla="val 0"/>
            </a:avLst>
          </a:prstGeom>
          <a:solidFill>
            <a:srgbClr val="16583D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308100" y="1625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进程树 (Process Tree)</a:t>
            </a:r>
            <a:endParaRPr lang="en-US" sz="16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08100" y="2070100"/>
            <a:ext cx="307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以树形结构呈现进程间的父子派生关系，核心需包含PID、运行状态（RUNNING/READY等）、调度优先级及实时内存占用值，直观展现系统进程的层级架构与基础资源消耗。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73956">
            <a:off x="3708400" y="2457474"/>
            <a:ext cx="167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22800" y="1587500"/>
            <a:ext cx="3200400" cy="1714500"/>
          </a:xfrm>
          <a:prstGeom prst="roundRect">
            <a:avLst>
              <a:gd name="adj" fmla="val 0"/>
            </a:avLst>
          </a:prstGeom>
          <a:solidFill>
            <a:srgbClr val="20517C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699000" y="1625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内存ASCII图 (Memory Map)</a:t>
            </a:r>
            <a:endParaRPr lang="en-US" sz="16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699000" y="2070100"/>
            <a:ext cx="307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采用字符画形式可视化内存空间，通过占位符与标识清晰区分已分配的进程内存块与空闲内存区域。需精准映射物理地址范围，让用户一眼读懂内存资源的分配与剩余情况。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73956">
            <a:off x="7061200" y="2457474"/>
            <a:ext cx="167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0517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937500" y="1587500"/>
            <a:ext cx="3200400" cy="1714500"/>
          </a:xfrm>
          <a:prstGeom prst="roundRect">
            <a:avLst>
              <a:gd name="adj" fmla="val 0"/>
            </a:avLst>
          </a:prstGeom>
          <a:solidFill>
            <a:srgbClr val="555555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013700" y="1625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多级反馈队列 (MLFQ)</a:t>
            </a:r>
            <a:endParaRPr lang="en-US" sz="1600" b="1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13700" y="2070100"/>
            <a:ext cx="307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按优先级分组展示各队列中的进程清单，明确标注不同队列的优先级区间。清晰呈现调度策略的执行结果，体现进程在不同优先级队列间的流转与当前归属。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231900" y="3429000"/>
            <a:ext cx="99060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B4B4B4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358900" y="346710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参考输出示例：</a:t>
            </a:r>
            <a:endParaRPr lang="en-US" sz="13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358900" y="3810000"/>
            <a:ext cx="4826000" cy="952500"/>
          </a:xfrm>
          <a:prstGeom prst="roundRect">
            <a:avLst>
              <a:gd name="adj" fmla="val 0"/>
            </a:avLst>
          </a:prstGeom>
          <a:solidFill>
            <a:srgbClr val="E1EB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422400" y="3835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Process Tree: init(1)[RUN] ├─shell(2)[RDY] └─logger(3)[BLK]</a:t>
            </a:r>
            <a:b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Consolas" panose="020B0609020204030204"/>
              </a:rPr>
              <a:t>Memory Map: |##init(64K)|--free(192K)--|##shell(128K)|--free(640K)--|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5354166">
            <a:off x="5810250" y="4279942"/>
            <a:ext cx="95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4B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350000" y="3810000"/>
            <a:ext cx="4826000" cy="952500"/>
          </a:xfrm>
          <a:prstGeom prst="roundRect">
            <a:avLst>
              <a:gd name="adj" fmla="val 0"/>
            </a:avLst>
          </a:prstGeom>
          <a:solidFill>
            <a:srgbClr val="E4E9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413500" y="3835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onsolas" panose="020B0609020204030204"/>
              </a:rPr>
              <a:t>MLFQ Status:</a:t>
            </a:r>
            <a:b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onsolas" panose="020B0609020204030204"/>
              </a:rPr>
              <a:t>Q0(p0-3): init | Q1(p4-7): shell | Q2(p8-15): logger</a:t>
            </a:r>
            <a:b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onsolas" panose="020B0609020204030204"/>
              </a:rPr>
              <a:t>说明：高优队列无等待时，低优队列进程才会获得调度机会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1231900" y="5016500"/>
            <a:ext cx="4889500" cy="1397000"/>
          </a:xfrm>
          <a:prstGeom prst="roundRect">
            <a:avLst>
              <a:gd name="adj" fmla="val 0"/>
            </a:avLst>
          </a:prstGeom>
          <a:solidFill>
            <a:srgbClr val="16583D">
              <a:alpha val="7000"/>
            </a:srgbClr>
          </a:solidFill>
          <a:ln w="12700" cap="flat" cmpd="sng">
            <a:solidFill>
              <a:srgbClr val="1658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308100" y="5054600"/>
            <a:ext cx="476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关键验收：内容完整性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308100" y="53975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输出结果必须严格覆盖进程树、内存ASCII分布图、MLFQ队列状态这三个核心板块，缺一不可。这是系统全景状态展示的基础，也是验证系统模块整合度的首要标准。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31" name="Connector 31"/>
          <p:cNvCxnSpPr/>
          <p:nvPr/>
        </p:nvCxnSpPr>
        <p:spPr>
          <a:xfrm rot="5367872">
            <a:off x="5568950" y="5727730"/>
            <a:ext cx="13589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3A28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6350000" y="5016500"/>
            <a:ext cx="4889500" cy="1397000"/>
          </a:xfrm>
          <a:prstGeom prst="roundRect">
            <a:avLst>
              <a:gd name="adj" fmla="val 0"/>
            </a:avLst>
          </a:prstGeom>
          <a:solidFill>
            <a:srgbClr val="20517C">
              <a:alpha val="7000"/>
            </a:srgbClr>
          </a:solidFill>
          <a:ln w="12700" cap="flat" cmpd="sng">
            <a:solidFill>
              <a:srgbClr val="20517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426200" y="5054600"/>
            <a:ext cx="476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关键验收：动态一致性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426200" y="53975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执行调度、进程创建/销毁等操作后，重新执行 overview 命令，显示的进程状态、内存分配及队列内容必须同步发生变化。静态不变的输出将被判定为功能未实现。</a:t>
            </a:r>
            <a:endParaRPr lang="en-US" sz="1200" b="0" i="0" u="none" strike="noStrike">
              <a:solidFill>
                <a:srgbClr val="32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17500" y="317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老师现场验收的典型场景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06500" y="1587500"/>
            <a:ext cx="3111500" cy="2095500"/>
          </a:xfrm>
          <a:prstGeom prst="roundRect">
            <a:avLst>
              <a:gd name="adj" fmla="val 0"/>
            </a:avLst>
          </a:prstGeom>
          <a:solidFill>
            <a:srgbClr val="EBF2F0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06500" y="1587500"/>
            <a:ext cx="3111500" cy="4064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70000" y="15875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场景一：调度动态性</a:t>
            </a:r>
            <a:endParaRPr lang="en-US" sz="15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70000" y="20574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核心操作：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创建3个CPU密集型进程，执行 start_sched 启动调度器，触发进程并发执行。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70000" y="2819400"/>
            <a:ext cx="2984500" cy="825500"/>
          </a:xfrm>
          <a:prstGeom prst="roundRect">
            <a:avLst>
              <a:gd name="adj" fmla="val 0"/>
            </a:avLst>
          </a:prstGeom>
          <a:solidFill>
            <a:srgbClr val="0E3A2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333500" y="2857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验收标准：</a:t>
            </a: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日志持续滚动输出，清晰观察到进程的轮转调度、优先级降级及任务正常结束的全流程。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08500" y="1587500"/>
            <a:ext cx="3111500" cy="2095500"/>
          </a:xfrm>
          <a:prstGeom prst="roundRect">
            <a:avLst>
              <a:gd name="adj" fmla="val 0"/>
            </a:avLst>
          </a:prstGeom>
          <a:solidFill>
            <a:srgbClr val="EBF2F0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08500" y="1587500"/>
            <a:ext cx="3111500" cy="4064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72000" y="15875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场景二：单步决策执行</a:t>
            </a:r>
            <a:endParaRPr lang="en-US" sz="15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572000" y="20574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核心操作：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先用 stop_sched 暂停自动调度，随后多次执行 step 命令，驱动系统单步推进。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2000" y="2819400"/>
            <a:ext cx="2984500" cy="825500"/>
          </a:xfrm>
          <a:prstGeom prst="roundRect">
            <a:avLst>
              <a:gd name="adj" fmla="val 0"/>
            </a:avLst>
          </a:prstGeom>
          <a:solidFill>
            <a:srgbClr val="0E3A2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635500" y="2857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验收标准：</a:t>
            </a: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每一步 step 均输出完整的内核决策过程，包括就绪队列扫描、优先级判定及上下文切换细节。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810500" y="1587500"/>
            <a:ext cx="3111500" cy="2095500"/>
          </a:xfrm>
          <a:prstGeom prst="roundRect">
            <a:avLst>
              <a:gd name="adj" fmla="val 0"/>
            </a:avLst>
          </a:prstGeom>
          <a:solidFill>
            <a:srgbClr val="EBF2F0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810500" y="1587500"/>
            <a:ext cx="3111500" cy="4064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874000" y="15875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场景三：状态持久化</a:t>
            </a:r>
            <a:endParaRPr lang="en-US" sz="15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874000" y="20574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核心操作：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构建多进程运行状态 → save 存储快照 → 退出程序后重启 → 执行 list_pcb 恢复数据。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874000" y="2819400"/>
            <a:ext cx="2984500" cy="825500"/>
          </a:xfrm>
          <a:prstGeom prst="roundRect">
            <a:avLst>
              <a:gd name="adj" fmla="val 0"/>
            </a:avLst>
          </a:prstGeom>
          <a:solidFill>
            <a:srgbClr val="0E3A2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937500" y="2857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验收标准：</a:t>
            </a: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重启后所有进程状态完全恢复，包括队列顺序、剩余时间片及已执行时长等关键数据无损。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206500" y="3937000"/>
            <a:ext cx="3111500" cy="2095500"/>
          </a:xfrm>
          <a:prstGeom prst="roundRect">
            <a:avLst>
              <a:gd name="adj" fmla="val 0"/>
            </a:avLst>
          </a:prstGeom>
          <a:solidFill>
            <a:srgbClr val="F5F7F6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206500" y="3937000"/>
            <a:ext cx="31115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1270000" y="39370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场景四：并发数据共享</a:t>
            </a:r>
            <a:endParaRPr lang="en-US" sz="15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270000" y="44069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核心操作：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开启双终端窗口，窗口A动态创建新进程，窗口B持续执行 overview 总览命令。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270000" y="5105400"/>
            <a:ext cx="2984500" cy="825500"/>
          </a:xfrm>
          <a:prstGeom prst="roundRect">
            <a:avLst>
              <a:gd name="adj" fmla="val 0"/>
            </a:avLst>
          </a:prstGeom>
          <a:solidFill>
            <a:srgbClr val="20517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333500" y="5143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验收标准：</a:t>
            </a: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窗口B能毫秒级实时感知新进程的加入，数据无延迟同步，临界区资源访问无竞态错误。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4508500" y="3937000"/>
            <a:ext cx="3111500" cy="2095500"/>
          </a:xfrm>
          <a:prstGeom prst="roundRect">
            <a:avLst>
              <a:gd name="adj" fmla="val 0"/>
            </a:avLst>
          </a:prstGeom>
          <a:solidFill>
            <a:srgbClr val="F5F7F6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4508500" y="3937000"/>
            <a:ext cx="31115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572000" y="39370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场景五：内存碎片治理</a:t>
            </a:r>
            <a:endParaRPr lang="en-US" sz="15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4572000" y="44069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核心操作：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循环 alloc 申请小内存制造外部碎片 → 执行 compact 紧凑算法 → mem_stat 统计。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4572000" y="5105400"/>
            <a:ext cx="2984500" cy="825500"/>
          </a:xfrm>
          <a:prstGeom prst="roundRect">
            <a:avLst>
              <a:gd name="adj" fmla="val 0"/>
            </a:avLst>
          </a:prstGeom>
          <a:solidFill>
            <a:srgbClr val="20517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4635500" y="5143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验收标准：</a:t>
            </a: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紧凑后内存碎片率显著下降，空闲分区合并为连续大空间，内存分配算法切换逻辑生效。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7810500" y="3937000"/>
            <a:ext cx="3111500" cy="2095500"/>
          </a:xfrm>
          <a:prstGeom prst="roundRect">
            <a:avLst>
              <a:gd name="adj" fmla="val 0"/>
            </a:avLst>
          </a:prstGeom>
          <a:solidFill>
            <a:srgbClr val="F5F7F6">
              <a:alpha val="100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7810500" y="3937000"/>
            <a:ext cx="31115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7874000" y="39370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场景六：终端可视化</a:t>
            </a:r>
            <a:endParaRPr lang="en-US" sz="15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7874000" y="44069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核心操作：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在系统运行多任务的复杂状态下，执行 overview 命令展示全局系统视图。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7874000" y="5105400"/>
            <a:ext cx="2984500" cy="825500"/>
          </a:xfrm>
          <a:prstGeom prst="roundRect">
            <a:avLst>
              <a:gd name="adj" fmla="val 0"/>
            </a:avLst>
          </a:prstGeom>
          <a:solidFill>
            <a:srgbClr val="20517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7937500" y="5143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验收标准：</a:t>
            </a:r>
            <a:r>
              <a:rPr lang="en-US" sz="11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运行、就绪、阻塞三区数据准确无误，表格排版整齐规范，关键元数据无乱码或错位。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90500" y="330200"/>
            <a:ext cx="1016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评分标准总览（百分制）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15875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EBF5F2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70000" y="16256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658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账户</a:t>
            </a:r>
            <a:r>
              <a:rPr lang="en-US" sz="1600" b="1" i="0" u="none" strike="noStrike">
                <a:solidFill>
                  <a:srgbClr val="1658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 · 8分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70000" y="2032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完整实现</a:t>
            </a:r>
            <a:r>
              <a:rPr lang="zh-CN" alt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账户登录、注销、密码错误锁定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08400" y="15875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EBF5F2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771900" y="16256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8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进程命令 · 20分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71900" y="2032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覆盖10个核心命令（各2分），随机抽测5个功能点。若有1个命令执行失败或结果错误，该部分扣10分。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10300" y="15875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EBF5F2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73800" y="16256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8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调度器 · 8分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73800" y="2032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后台线程自动调度并生成日志；支持单步展示决策过程；高负载下的降级逻辑触发正确，无死锁。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712200" y="15875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EBF5F2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775700" y="16256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8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内存命令 · 16分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75700" y="2032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完成8项内存操作（分配/释放/紧缩等），内存统计准确，置换算法切换生效，无内存泄漏。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206500" y="3429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E6F2FA">
              <a:alpha val="100000"/>
            </a:srgbClr>
          </a:solidFill>
          <a:ln w="12700" cap="flat" cmpd="sng">
            <a:solidFill>
              <a:srgbClr val="20517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270000" y="3467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051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数据持久化 · 20分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270000" y="3873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实现save/load机制，文件格式规范；系统重启后自动恢复队列顺序与动态数据，状态零丢失。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708400" y="3429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E6F2FA">
              <a:alpha val="100000"/>
            </a:srgbClr>
          </a:solidFill>
          <a:ln w="12700" cap="flat" cmpd="sng">
            <a:solidFill>
              <a:srgbClr val="20517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771900" y="3467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051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并发控制 · 18分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771900" y="3873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前后台线程分离，消息队列同步；多实例共享状态访问互斥，并发场景下数据一致性得到保证。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10300" y="3429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E6F2FA">
              <a:alpha val="100000"/>
            </a:srgbClr>
          </a:solidFill>
          <a:ln w="12700" cap="flat" cmpd="sng">
            <a:solidFill>
              <a:srgbClr val="20517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73800" y="3467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051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 · 10分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73800" y="3873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Overview界面三大核心区域完整；数据实时动态更新，可视化效果直观反映内核运行状态。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712200" y="3429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EF3C7">
              <a:alpha val="10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775700" y="3467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项目总分 · 100分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775700" y="3873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需通过所有功能模块验收，各环节无重大缺陷。核心功能实现是及格基础，细节与稳定性决定高分。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206500" y="5334000"/>
            <a:ext cx="9969500" cy="1206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1231900" y="5359400"/>
            <a:ext cx="3238500" cy="1143000"/>
          </a:xfrm>
          <a:prstGeom prst="roundRect">
            <a:avLst>
              <a:gd name="adj" fmla="val 0"/>
            </a:avLst>
          </a:prstGeom>
          <a:solidFill>
            <a:srgbClr val="FCA5A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1295400" y="53975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启动阻断红线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50A0A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程序无法启动或核心命令全失败，总分上限20分。基础运行能力是评分前提。</a:t>
            </a:r>
            <a:endParaRPr lang="en-US" sz="1100" b="0" i="0" u="none" strike="noStrike">
              <a:solidFill>
                <a:srgbClr val="450A0A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7" name="Connector 37"/>
          <p:cNvCxnSpPr/>
          <p:nvPr/>
        </p:nvCxnSpPr>
        <p:spPr>
          <a:xfrm rot="5354166">
            <a:off x="4019550" y="5930942"/>
            <a:ext cx="95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4508500" y="5359400"/>
            <a:ext cx="3238500" cy="1143000"/>
          </a:xfrm>
          <a:prstGeom prst="roundRect">
            <a:avLst>
              <a:gd name="adj" fmla="val 0"/>
            </a:avLst>
          </a:prstGeom>
          <a:solidFill>
            <a:srgbClr val="FB923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4572000" y="53975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并发实现硬指标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3140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单线程模拟多线程直接判0分。必须使用原生线程机制实现前后台任务并行处理。</a:t>
            </a:r>
            <a:endParaRPr lang="en-US" sz="1100" b="0" i="0" u="none" strike="noStrike">
              <a:solidFill>
                <a:srgbClr val="431407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0" name="Connector 40"/>
          <p:cNvCxnSpPr/>
          <p:nvPr/>
        </p:nvCxnSpPr>
        <p:spPr>
          <a:xfrm rot="5354166">
            <a:off x="7296150" y="5930942"/>
            <a:ext cx="95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7785100" y="5359400"/>
            <a:ext cx="3238500" cy="1143000"/>
          </a:xfrm>
          <a:prstGeom prst="roundRect">
            <a:avLst>
              <a:gd name="adj" fmla="val 0"/>
            </a:avLst>
          </a:prstGeom>
          <a:solidFill>
            <a:srgbClr val="EAB30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7848600" y="53975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A8A0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调度器有效性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200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纯手工切换无自动运行，调度模块封顶4分。必须实现后台自动调度与策略执行。</a:t>
            </a:r>
            <a:endParaRPr lang="en-US" sz="1100" b="0" i="0" u="none" strike="noStrike">
              <a:solidFill>
                <a:srgbClr val="422006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972310" y="6513195"/>
            <a:ext cx="777494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报告</a:t>
            </a:r>
            <a:r>
              <a:rPr lang="en-US" altLang="zh-CN" sz="2000" b="1">
                <a:solidFill>
                  <a:srgbClr val="FF0000"/>
                </a:solidFill>
              </a:rPr>
              <a:t>30</a:t>
            </a:r>
            <a:r>
              <a:rPr lang="zh-CN" altLang="en-US" sz="2000" b="1">
                <a:solidFill>
                  <a:srgbClr val="FF0000"/>
                </a:solidFill>
                <a:ea typeface="宋体" panose="02010600030101010101" pitchFamily="2" charset="-122"/>
              </a:rPr>
              <a:t>分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000" b="1">
                <a:solidFill>
                  <a:srgbClr val="FF0000"/>
                </a:solidFill>
                <a:ea typeface="宋体" panose="02010600030101010101" pitchFamily="2" charset="-122"/>
              </a:rPr>
              <a:t>验收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60+</a:t>
            </a:r>
            <a:r>
              <a:rPr lang="zh-CN" altLang="en-US" sz="2000" b="1">
                <a:solidFill>
                  <a:srgbClr val="FF0000"/>
                </a:solidFill>
                <a:ea typeface="宋体" panose="02010600030101010101" pitchFamily="2" charset="-122"/>
              </a:rPr>
              <a:t>平时表现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10</a:t>
            </a:r>
            <a:r>
              <a:rPr lang="zh-CN" altLang="en-US" sz="2000" b="1">
                <a:solidFill>
                  <a:srgbClr val="FF0000"/>
                </a:solidFill>
                <a:ea typeface="宋体" panose="02010600030101010101" pitchFamily="2" charset="-122"/>
              </a:rPr>
              <a:t>分（中期验收，考勤等课堂</a:t>
            </a:r>
            <a:r>
              <a:rPr lang="zh-CN" altLang="en-US" sz="2000" b="1">
                <a:solidFill>
                  <a:srgbClr val="FF0000"/>
                </a:solidFill>
                <a:ea typeface="宋体" panose="02010600030101010101" pitchFamily="2" charset="-122"/>
              </a:rPr>
              <a:t>表现）</a:t>
            </a:r>
            <a:endParaRPr lang="zh-CN" altLang="en-US" sz="20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90500" y="330200"/>
            <a:ext cx="1016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避免踩的坑（扣分重灾区）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06500" y="1587500"/>
            <a:ext cx="3149600" cy="1968500"/>
          </a:xfrm>
          <a:prstGeom prst="roundRect">
            <a:avLst>
              <a:gd name="adj" fmla="val 0"/>
            </a:avLst>
          </a:prstGeom>
          <a:solidFill>
            <a:srgbClr val="EB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06500" y="1587500"/>
            <a:ext cx="3149600" cy="508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70000" y="1714500"/>
            <a:ext cx="302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调度器“假动态”</a:t>
            </a:r>
            <a:endParaRPr lang="en-US" sz="16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70000" y="2133600"/>
            <a:ext cx="3022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仅修改状态字符串，未实现时间推进、队列降级与日志输出，核心调度逻辑未真正动态运行，属于形式化实现。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70000" y="3048000"/>
            <a:ext cx="30226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308100" y="3073400"/>
            <a:ext cx="2959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严重后果：调度器部分计 0 分</a:t>
            </a:r>
            <a:endParaRPr 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08500" y="1587500"/>
            <a:ext cx="3149600" cy="1968500"/>
          </a:xfrm>
          <a:prstGeom prst="roundRect">
            <a:avLst>
              <a:gd name="adj" fmla="val 0"/>
            </a:avLst>
          </a:prstGeom>
          <a:solidFill>
            <a:srgbClr val="EB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08500" y="1587500"/>
            <a:ext cx="3149600" cy="508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72000" y="1714500"/>
            <a:ext cx="302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内存泄漏隐患</a:t>
            </a:r>
            <a:endParaRPr lang="en-US" sz="16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572000" y="2133600"/>
            <a:ext cx="3022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进程正常撤销后，其占用的内存资源未被及时释放回收，造成系统内存碎片与资源浪费，破坏内存管理闭环。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2000" y="3048000"/>
            <a:ext cx="30226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610100" y="3073400"/>
            <a:ext cx="2959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严重后果：进程+内存管理双重扣分</a:t>
            </a:r>
            <a:endParaRPr 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810500" y="1587500"/>
            <a:ext cx="3149600" cy="1968500"/>
          </a:xfrm>
          <a:prstGeom prst="roundRect">
            <a:avLst>
              <a:gd name="adj" fmla="val 0"/>
            </a:avLst>
          </a:prstGeom>
          <a:solidFill>
            <a:srgbClr val="EB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810500" y="1587500"/>
            <a:ext cx="3149600" cy="508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874000" y="1714500"/>
            <a:ext cx="302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持久化“存一半”</a:t>
            </a:r>
            <a:endParaRPr lang="en-US" sz="16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874000" y="2133600"/>
            <a:ext cx="3022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仅保存PCB静态基础信息，关键的队列执行顺序、进程已执行时间等动态运行数据未落地，恢复时无法还原现场。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874000" y="3048000"/>
            <a:ext cx="30226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912100" y="3073400"/>
            <a:ext cx="2959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严重后果：直接扣除 5-8 分</a:t>
            </a:r>
            <a:endParaRPr 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206500" y="3746500"/>
            <a:ext cx="3149600" cy="1968500"/>
          </a:xfrm>
          <a:prstGeom prst="roundRect">
            <a:avLst>
              <a:gd name="adj" fmla="val 0"/>
            </a:avLst>
          </a:prstGeom>
          <a:solidFill>
            <a:srgbClr val="EB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206500" y="3746500"/>
            <a:ext cx="3149600" cy="508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1270000" y="3873500"/>
            <a:ext cx="302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多线程“有名无实”</a:t>
            </a:r>
            <a:endParaRPr lang="en-US" sz="16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270000" y="4292600"/>
            <a:ext cx="3022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未真正实现后台独立工作线程，或对共享临界区数据未加互斥锁保护，并发场景下存在数据不一致与执行错误。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270000" y="5207000"/>
            <a:ext cx="30226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308100" y="5232400"/>
            <a:ext cx="2959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严重后果：并发部分直接 0 分</a:t>
            </a:r>
            <a:endParaRPr 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4508500" y="3746500"/>
            <a:ext cx="3149600" cy="1968500"/>
          </a:xfrm>
          <a:prstGeom prst="roundRect">
            <a:avLst>
              <a:gd name="adj" fmla="val 0"/>
            </a:avLst>
          </a:prstGeom>
          <a:solidFill>
            <a:srgbClr val="EB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4508500" y="3746500"/>
            <a:ext cx="3149600" cy="508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572000" y="3873500"/>
            <a:ext cx="302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可视化“偷工减料”</a:t>
            </a:r>
            <a:endParaRPr lang="en-US" sz="16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4572000" y="4292600"/>
            <a:ext cx="3022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未按课设规范输出树形结构关系图与ASCII内存布局图，核心运行状态无法直观呈现，降低系统可验证性。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4572000" y="5207000"/>
            <a:ext cx="30226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4610100" y="5232400"/>
            <a:ext cx="2959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严重后果：一次性扣 5 分以上</a:t>
            </a:r>
            <a:endParaRPr 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7810500" y="3746500"/>
            <a:ext cx="3149600" cy="1968500"/>
          </a:xfrm>
          <a:prstGeom prst="roundRect">
            <a:avLst>
              <a:gd name="adj" fmla="val 0"/>
            </a:avLst>
          </a:prstGeom>
          <a:solidFill>
            <a:srgbClr val="EB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7810500" y="3746500"/>
            <a:ext cx="3149600" cy="508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7874000" y="3873500"/>
            <a:ext cx="302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报告“缺斤少两”</a:t>
            </a:r>
            <a:endParaRPr lang="en-US" sz="16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7874000" y="4292600"/>
            <a:ext cx="3022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实验报告中遗漏自定义文件格式说明、未绘制核心执行流程图，文档完整性与可读性不满足验收标准。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7874000" y="5207000"/>
            <a:ext cx="3022600" cy="406400"/>
          </a:xfrm>
          <a:prstGeom prst="roundRect">
            <a:avLst>
              <a:gd name="adj" fmla="val 0"/>
            </a:avLst>
          </a:prstGeom>
          <a:solidFill>
            <a:srgbClr val="0E3A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7912100" y="5232400"/>
            <a:ext cx="2959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严重后果：报告项直接扣 10 分</a:t>
            </a:r>
            <a:endParaRPr 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90500" y="330200"/>
            <a:ext cx="762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时间安排（32学时）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31900" y="1600200"/>
            <a:ext cx="2387600" cy="4445000"/>
          </a:xfrm>
          <a:prstGeom prst="roundRect">
            <a:avLst>
              <a:gd name="adj" fmla="val 0"/>
            </a:avLst>
          </a:prstGeom>
          <a:solidFill>
            <a:srgbClr val="16583D">
              <a:alpha val="7000"/>
            </a:srgbClr>
          </a:solidFill>
          <a:ln w="12700" cap="flat" cmpd="sng">
            <a:solidFill>
              <a:srgbClr val="1658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31900" y="1600200"/>
            <a:ext cx="2387600" cy="6985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31900" y="16002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需求分析与设计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31900" y="2362200"/>
            <a:ext cx="2387600" cy="825500"/>
          </a:xfrm>
          <a:prstGeom prst="roundRect">
            <a:avLst>
              <a:gd name="adj" fmla="val 0"/>
            </a:avLst>
          </a:prstGeom>
          <a:solidFill>
            <a:srgbClr val="16583D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231900" y="2362200"/>
            <a:ext cx="2387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 1 - 8 学时</a:t>
            </a:r>
            <a:endParaRPr lang="en-US" sz="20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231900" y="32512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明确方案 · 架构先行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20462">
            <a:off x="1358919" y="3752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295400" y="3886200"/>
            <a:ext cx="2260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深度理解课设业务目标，完成核心数据结构的定义与业务逻辑流程的可视化绘制。同时规范数据文件的存储格式，这是后续开发的基石，务必在本阶段确认所有设计细节，避免返工。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721100" y="1600200"/>
            <a:ext cx="2387600" cy="4445000"/>
          </a:xfrm>
          <a:prstGeom prst="roundRect">
            <a:avLst>
              <a:gd name="adj" fmla="val 0"/>
            </a:avLst>
          </a:prstGeom>
          <a:solidFill>
            <a:srgbClr val="16583D">
              <a:alpha val="12000"/>
            </a:srgbClr>
          </a:solidFill>
          <a:ln w="12700" cap="flat" cmpd="sng">
            <a:solidFill>
              <a:srgbClr val="1658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721100" y="1600200"/>
            <a:ext cx="2387600" cy="6985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721100" y="16002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编码实现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721100" y="2362200"/>
            <a:ext cx="2387600" cy="825500"/>
          </a:xfrm>
          <a:prstGeom prst="roundRect">
            <a:avLst>
              <a:gd name="adj" fmla="val 0"/>
            </a:avLst>
          </a:prstGeom>
          <a:solidFill>
            <a:srgbClr val="16583D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721100" y="2362200"/>
            <a:ext cx="2387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 9 - 20 学时</a:t>
            </a:r>
            <a:endParaRPr lang="en-US" sz="20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721100" y="32512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核心开发 · 功能落地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20462">
            <a:off x="3848119" y="3752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784600" y="3886200"/>
            <a:ext cx="2260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依据设计文档完成代码编写，重点实现用户命令接口、任务调度核心算法、内存资源的动态管理模块以及数据的持久化存储功能。在编码中遵循规范，保证模块间的解耦与代码的可维护性，确保各功能模块独立运行正常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210300" y="1600200"/>
            <a:ext cx="2387600" cy="4445000"/>
          </a:xfrm>
          <a:prstGeom prst="roundRect">
            <a:avLst>
              <a:gd name="adj" fmla="val 0"/>
            </a:avLst>
          </a:prstGeom>
          <a:solidFill>
            <a:srgbClr val="16583D">
              <a:alpha val="18000"/>
            </a:srgbClr>
          </a:solidFill>
          <a:ln w="12700" cap="flat" cmpd="sng">
            <a:solidFill>
              <a:srgbClr val="1658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10300" y="1600200"/>
            <a:ext cx="2387600" cy="6985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10300" y="16002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调试与验证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10300" y="2362200"/>
            <a:ext cx="2387600" cy="825500"/>
          </a:xfrm>
          <a:prstGeom prst="roundRect">
            <a:avLst>
              <a:gd name="adj" fmla="val 0"/>
            </a:avLst>
          </a:prstGeom>
          <a:solidFill>
            <a:srgbClr val="16583D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210300" y="2362200"/>
            <a:ext cx="2387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 21 - 28 学时</a:t>
            </a:r>
            <a:endParaRPr lang="en-US" sz="20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210300" y="32512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问题排查 · 场景测试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2" name="Connector 32"/>
          <p:cNvCxnSpPr/>
          <p:nvPr/>
        </p:nvCxnSpPr>
        <p:spPr>
          <a:xfrm rot="-20462">
            <a:off x="6337319" y="3752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273800" y="3886200"/>
            <a:ext cx="2260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重点攻克多线程环境下的并发问题与死锁风险，利用调试工具定位逻辑错误。通过模拟多种边界场景和验收标准进行全流程黑盒测试，验证系统在高负载及异常输入下的鲁棒性，确保系统功能与设计预期完全一致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699500" y="1600200"/>
            <a:ext cx="2387600" cy="4445000"/>
          </a:xfrm>
          <a:prstGeom prst="roundRect">
            <a:avLst>
              <a:gd name="adj" fmla="val 0"/>
            </a:avLst>
          </a:prstGeom>
          <a:solidFill>
            <a:srgbClr val="16583D">
              <a:alpha val="23000"/>
            </a:srgbClr>
          </a:solidFill>
          <a:ln w="12700" cap="flat" cmpd="sng">
            <a:solidFill>
              <a:srgbClr val="1658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8699500" y="1600200"/>
            <a:ext cx="2387600" cy="6985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699500" y="16002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报告与验收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8699500" y="2362200"/>
            <a:ext cx="2387600" cy="825500"/>
          </a:xfrm>
          <a:prstGeom prst="roundRect">
            <a:avLst>
              <a:gd name="adj" fmla="val 0"/>
            </a:avLst>
          </a:prstGeom>
          <a:solidFill>
            <a:srgbClr val="16583D">
              <a:alpha val="2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699500" y="2362200"/>
            <a:ext cx="2387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 29 - 32 学时</a:t>
            </a:r>
            <a:endParaRPr lang="en-US" sz="20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8699500" y="32512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成果沉淀 · 最终交付</a:t>
            </a:r>
            <a:endParaRPr lang="en-US" sz="14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0" name="Connector 40"/>
          <p:cNvCxnSpPr/>
          <p:nvPr/>
        </p:nvCxnSpPr>
        <p:spPr>
          <a:xfrm rot="-20462">
            <a:off x="8826519" y="3752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8763000" y="3886200"/>
            <a:ext cx="2260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整理开发过程中的技术文档，撰写包含设计思路、实现细节、测试结果的课程设计报告。准备最终的演示环境与验收材料，完成现场功能演示，清晰阐述技术选型与解决的关键问题，顺利通过最终项目验收。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3600" y="64643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dist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90500" y="330200"/>
            <a:ext cx="762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提交材料清单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31900" y="1524000"/>
            <a:ext cx="9842500" cy="952500"/>
          </a:xfrm>
          <a:prstGeom prst="roundRect">
            <a:avLst>
              <a:gd name="adj" fmla="val 0"/>
            </a:avLst>
          </a:prstGeom>
          <a:solidFill>
            <a:srgbClr val="20517C">
              <a:alpha val="10000"/>
            </a:srgbClr>
          </a:solidFill>
          <a:ln w="12700" cap="flat" cmpd="sng">
            <a:solidFill>
              <a:srgbClr val="20517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33500" y="1587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打包命名硬性规范：</a:t>
            </a:r>
            <a:r>
              <a:rPr lang="en-US" sz="1400" b="0" i="0" u="none" strike="noStrike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所有材料需统一压缩为 ZIP 格式，文件名严格遵循“学号_姓名_OS课程设计.zip”。请务必检查命名格式，避免因命名错误导致材料无法正常归档与审核。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1231900" y="2603500"/>
            <a:ext cx="3213100" cy="1841500"/>
          </a:xfrm>
          <a:prstGeom prst="roundRect">
            <a:avLst>
              <a:gd name="adj" fmla="val 0"/>
            </a:avLst>
          </a:prstGeom>
          <a:solidFill>
            <a:srgbClr val="20517C">
              <a:alpha val="8000"/>
            </a:srgbClr>
          </a:solidFill>
          <a:ln w="12700" cap="flat" cmpd="sng">
            <a:solidFill>
              <a:srgbClr val="20517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3"/>
            </p:custDataLst>
          </p:nvPr>
        </p:nvSpPr>
        <p:spPr>
          <a:xfrm>
            <a:off x="1295400" y="26670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051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核心源代码文件</a:t>
            </a:r>
            <a:endParaRPr lang="en-US" sz="1600" b="1" i="0" u="none" strike="noStrike">
              <a:solidFill>
                <a:srgbClr val="2051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4"/>
            </p:custDataLst>
          </p:nvPr>
        </p:nvSpPr>
        <p:spPr>
          <a:xfrm>
            <a:off x="1295400" y="31750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提交项目全部功能实现的源文件（.c / .cpp）。要求对进程控制、内存管理、文件操作等关键逻辑添加详细中文注释，清晰展现代码设计思路与底层实现逻辑。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5"/>
            </p:custDataLst>
          </p:nvPr>
        </p:nvSpPr>
        <p:spPr>
          <a:xfrm>
            <a:off x="4572000" y="2603500"/>
            <a:ext cx="3213100" cy="1841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6"/>
            </p:custDataLst>
          </p:nvPr>
        </p:nvSpPr>
        <p:spPr>
          <a:xfrm>
            <a:off x="4635500" y="26670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8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课程设计报告文档</a:t>
            </a:r>
            <a:endParaRPr lang="en-US" sz="1600" b="1" i="0" u="none" strike="noStrike">
              <a:solidFill>
                <a:srgbClr val="1658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7"/>
            </p:custDataLst>
          </p:nvPr>
        </p:nvSpPr>
        <p:spPr>
          <a:xfrm>
            <a:off x="4635500" y="31750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采用 Word 或 PDF 格式提交。需包含系统设计蓝图、核心数据结构定义、业务流程可视化图表、关键代码解析及完整测试验证过程，形成逻辑闭环的技术设计文档。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8"/>
            </p:custDataLst>
          </p:nvPr>
        </p:nvSpPr>
        <p:spPr>
          <a:xfrm>
            <a:off x="7912100" y="2603500"/>
            <a:ext cx="3213100" cy="1841500"/>
          </a:xfrm>
          <a:prstGeom prst="roundRect">
            <a:avLst>
              <a:gd name="adj" fmla="val 0"/>
            </a:avLst>
          </a:prstGeom>
          <a:solidFill>
            <a:srgbClr val="B48228">
              <a:alpha val="8000"/>
            </a:srgbClr>
          </a:solidFill>
          <a:ln w="12700" cap="flat" cmpd="sng">
            <a:solidFill>
              <a:srgbClr val="B4822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9"/>
            </p:custDataLst>
          </p:nvPr>
        </p:nvSpPr>
        <p:spPr>
          <a:xfrm>
            <a:off x="7975600" y="2667000"/>
            <a:ext cx="30861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82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可运行发行程序包</a:t>
            </a:r>
            <a:endParaRPr lang="en-US" sz="1600" b="1" i="0" u="none" strike="noStrike">
              <a:solidFill>
                <a:srgbClr val="B482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0"/>
            </p:custDataLst>
          </p:nvPr>
        </p:nvSpPr>
        <p:spPr>
          <a:xfrm>
            <a:off x="7975600" y="31750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提供无需二次编译的可执行文件（.exe），必须附带程序运行所需的初始空物理文件。确保评审环节可直接运行演示，直观展示系统功能完整性与运行效果。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231900" y="4572000"/>
            <a:ext cx="9842500" cy="1714500"/>
          </a:xfrm>
          <a:prstGeom prst="roundRect">
            <a:avLst>
              <a:gd name="adj" fmla="val 0"/>
            </a:avLst>
          </a:prstGeom>
          <a:solidFill>
            <a:srgbClr val="EBF2EE">
              <a:alpha val="100000"/>
            </a:srgbClr>
          </a:solidFill>
          <a:ln w="12700" cap="flat" cmpd="sng">
            <a:solidFill>
              <a:srgbClr val="1658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295400" y="4635500"/>
            <a:ext cx="469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358900" y="4673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报告核心要素清单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358900" y="50800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需涵盖设计目标与整体思路；明确PCB、就绪/阻塞队列、内存表等数据结构定义；绘制清晰的进程调度与内存分配流程图，用可视化方式呈现系统核心架构。</a:t>
            </a:r>
            <a:endParaRPr lang="en-US" sz="1200" b="0" i="0" u="none" strike="noStrike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6" name="Connector 26"/>
          <p:cNvCxnSpPr/>
          <p:nvPr/>
        </p:nvCxnSpPr>
        <p:spPr>
          <a:xfrm rot="5370107">
            <a:off x="5429250" y="5422928"/>
            <a:ext cx="1460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248400" y="4635500"/>
            <a:ext cx="469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311900" y="4673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验收验证与复盘总结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11900" y="50800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需包含关键代码功能解释、对应验收场景的实际运行截图；同时复盘开发难点（如死锁规避、内存碎片处理），详细描述问题排查过程与最终解决方案。</a:t>
            </a:r>
            <a:endParaRPr lang="en-US" sz="1200" b="0" i="0" u="none" strike="noStrike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3600" y="64643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dist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90500" y="330200"/>
            <a:ext cx="52578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纪律要求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95400" y="1651000"/>
            <a:ext cx="3238500" cy="2921000"/>
          </a:xfrm>
          <a:prstGeom prst="roundRect">
            <a:avLst>
              <a:gd name="adj" fmla="val 0"/>
            </a:avLst>
          </a:prstGeom>
          <a:solidFill>
            <a:srgbClr val="16583D">
              <a:alpha val="9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95400" y="1651000"/>
            <a:ext cx="3238500" cy="5715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422400" y="1676400"/>
            <a:ext cx="298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严禁抄袭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422400" y="2349500"/>
            <a:ext cx="2984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D37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课程设计期间，代码雷同或实习报告抄袭行为将被视为严重学术不端。一经发现，相关作业或项目一律按零分处理，并立即上报学院，按学校学术规范进行后续纪律处分，绝不姑息。</a:t>
            </a:r>
            <a:endParaRPr lang="en-US" sz="1300" b="0" i="0" u="none" strike="noStrike">
              <a:solidFill>
                <a:srgbClr val="2D3732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97400" y="1651000"/>
            <a:ext cx="3238500" cy="2921000"/>
          </a:xfrm>
          <a:prstGeom prst="roundRect">
            <a:avLst>
              <a:gd name="adj" fmla="val 0"/>
            </a:avLst>
          </a:prstGeom>
          <a:solidFill>
            <a:srgbClr val="16583D">
              <a:alpha val="9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97400" y="1651000"/>
            <a:ext cx="3238500" cy="5715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724400" y="1676400"/>
            <a:ext cx="298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考勤管理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724400" y="2349500"/>
            <a:ext cx="2984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D3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考勤结果直接决定实习有效性：缺席两次实习课程将无最终成绩；缺席一次扣20分；迟到或早退一次扣10分。请务必按时到场，确有特殊情况需提前向指导老师履行请假手续。</a:t>
            </a:r>
            <a:endParaRPr lang="en-US" sz="1300" b="0" i="0" u="none" strike="noStrike">
              <a:solidFill>
                <a:srgbClr val="2D3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899400" y="1651000"/>
            <a:ext cx="3238500" cy="2921000"/>
          </a:xfrm>
          <a:prstGeom prst="roundRect">
            <a:avLst>
              <a:gd name="adj" fmla="val 0"/>
            </a:avLst>
          </a:prstGeom>
          <a:solidFill>
            <a:srgbClr val="16583D">
              <a:alpha val="9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899400" y="1651000"/>
            <a:ext cx="3238500" cy="5715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026400" y="1676400"/>
            <a:ext cx="298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秩序规范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026400" y="2349500"/>
            <a:ext cx="2984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D3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在实验室及实习场地内，需保持安静专注的学习环境。严禁玩游戏、大声喧哗、随意走动等扰乱秩序的行为。每违反一次纪律扣5分，多次违反且不听劝阻者，将被取消本次实习资格。</a:t>
            </a:r>
            <a:endParaRPr lang="en-US" sz="1300" b="0" i="0" u="none" strike="noStrike">
              <a:solidFill>
                <a:srgbClr val="2D3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295400" y="4762500"/>
            <a:ext cx="9842500" cy="1460500"/>
          </a:xfrm>
          <a:prstGeom prst="roundRect">
            <a:avLst>
              <a:gd name="adj" fmla="val 0"/>
            </a:avLst>
          </a:prstGeom>
          <a:solidFill>
            <a:srgbClr val="E6F2EF">
              <a:alpha val="100000"/>
            </a:srgbClr>
          </a:solidFill>
          <a:ln w="12700" cap="flat" cmpd="sng">
            <a:solidFill>
              <a:srgbClr val="16583D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422400" y="4864100"/>
            <a:ext cx="958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重要提示：</a:t>
            </a:r>
            <a:r>
              <a:rPr lang="en-US" sz="1300" b="0" i="0" u="none" strike="noStrike">
                <a:solidFill>
                  <a:srgbClr val="3C464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请各位同学严格遵守上述纪律条款，考勤表现与纪律执行情况将按比例计入课程设计最终成绩。学术诚信是立身之本，良好的实习秩序是任务完成的保障，希望大家端正态度，认真对待，顺利完成本次课程设计的各项任务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12217400" cy="1130300"/>
          </a:xfrm>
          <a:prstGeom prst="roundRect">
            <a:avLst>
              <a:gd name="adj" fmla="val 0"/>
            </a:avLst>
          </a:prstGeom>
          <a:solidFill>
            <a:srgbClr val="2051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7260062">
            <a:off x="971865" y="641410"/>
            <a:ext cx="5707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-63500" y="9525"/>
            <a:ext cx="12268200" cy="6845300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-63500" y="9525"/>
            <a:ext cx="12306300" cy="1181100"/>
          </a:xfrm>
          <a:prstGeom prst="roundRect">
            <a:avLst>
              <a:gd name="adj" fmla="val 0"/>
            </a:avLst>
          </a:prstGeom>
          <a:solidFill>
            <a:srgbClr val="1658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04900" y="1346200"/>
            <a:ext cx="10147300" cy="513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3A2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896600" y="60198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3300" y="6248400"/>
            <a:ext cx="469900" cy="469900"/>
          </a:xfrm>
          <a:prstGeom prst="roundRect">
            <a:avLst>
              <a:gd name="adj" fmla="val 0"/>
            </a:avLst>
          </a:prstGeom>
          <a:solidFill>
            <a:srgbClr val="0E3A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3600" y="64643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dist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90500" y="330200"/>
            <a:ext cx="52578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 &amp; A</a:t>
            </a:r>
            <a:endParaRPr lang="en-US" sz="28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1231900" y="1587500"/>
            <a:ext cx="3200400" cy="2222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3"/>
            </p:custDataLst>
          </p:nvPr>
        </p:nvSpPr>
        <p:spPr>
          <a:xfrm>
            <a:off x="1231900" y="1587500"/>
            <a:ext cx="3200400" cy="482600"/>
          </a:xfrm>
          <a:prstGeom prst="roundRect">
            <a:avLst>
              <a:gd name="adj" fmla="val 0"/>
            </a:avLst>
          </a:prstGeom>
          <a:solidFill>
            <a:srgbClr val="16583D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4"/>
            </p:custDataLst>
          </p:nvPr>
        </p:nvSpPr>
        <p:spPr>
          <a:xfrm>
            <a:off x="1295400" y="16002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Q：可以用 Python 进行开发吗？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5"/>
            </p:custDataLst>
          </p:nvPr>
        </p:nvSpPr>
        <p:spPr>
          <a:xfrm>
            <a:off x="1295400" y="2095500"/>
            <a:ext cx="307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只能</a:t>
            </a: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C/C++ 。Python 的 GIL 机制可能影响多线程并发性能，且二进制文件处理流程相对繁琐。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6"/>
            </p:custDataLst>
          </p:nvPr>
        </p:nvSpPr>
        <p:spPr>
          <a:xfrm>
            <a:off x="4546600" y="1587500"/>
            <a:ext cx="3200400" cy="2222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7"/>
            </p:custDataLst>
          </p:nvPr>
        </p:nvSpPr>
        <p:spPr>
          <a:xfrm>
            <a:off x="4546600" y="1587500"/>
            <a:ext cx="3200400" cy="482600"/>
          </a:xfrm>
          <a:prstGeom prst="roundRect">
            <a:avLst>
              <a:gd name="adj" fmla="val 0"/>
            </a:avLst>
          </a:prstGeom>
          <a:solidFill>
            <a:srgbClr val="16583D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8"/>
            </p:custDataLst>
          </p:nvPr>
        </p:nvSpPr>
        <p:spPr>
          <a:xfrm>
            <a:off x="4610100" y="16002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Q：调度时间片必须真等2秒吗？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9"/>
            </p:custDataLst>
          </p:nvPr>
        </p:nvSpPr>
        <p:spPr>
          <a:xfrm>
            <a:off x="4610100" y="2095500"/>
            <a:ext cx="307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开发阶段可以使用 sleep(2) 模拟时间片轮转逻辑。在最终验收演示时，为了节省时间，允许将等待时间调快（如缩短为0.5秒或直接跳过），只要核心的调度算法逻辑正确、状态切换符合设计要求即可。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0"/>
            </p:custDataLst>
          </p:nvPr>
        </p:nvSpPr>
        <p:spPr>
          <a:xfrm>
            <a:off x="7861300" y="1587500"/>
            <a:ext cx="3200400" cy="22225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1"/>
            </p:custDataLst>
          </p:nvPr>
        </p:nvSpPr>
        <p:spPr>
          <a:xfrm>
            <a:off x="7861300" y="1587500"/>
            <a:ext cx="3200400" cy="482600"/>
          </a:xfrm>
          <a:prstGeom prst="roundRect">
            <a:avLst>
              <a:gd name="adj" fmla="val 0"/>
            </a:avLst>
          </a:prstGeom>
          <a:solidFill>
            <a:srgbClr val="16583D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2"/>
            </p:custDataLst>
          </p:nvPr>
        </p:nvSpPr>
        <p:spPr>
          <a:xfrm>
            <a:off x="7924800" y="16002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Q：内存管理的大小单位是什么？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3"/>
            </p:custDataLst>
          </p:nvPr>
        </p:nvSpPr>
        <p:spPr>
          <a:xfrm>
            <a:off x="7924800" y="2095500"/>
            <a:ext cx="307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建议统一以 KB（千字节）作为内存分配与管理的基础单位。总内存容量可由开发者自行设定，通常推荐设置为 1024KB（即1MB），方便计算和测试。需保证内存块的申请、释放、碎片整理等操作均基于此单位正确执行。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231900" y="4000500"/>
            <a:ext cx="4508500" cy="2159000"/>
          </a:xfrm>
          <a:prstGeom prst="roundRect">
            <a:avLst>
              <a:gd name="adj" fmla="val 0"/>
            </a:avLst>
          </a:prstGeom>
          <a:solidFill>
            <a:srgbClr val="C84646">
              <a:alpha val="7000"/>
            </a:srgbClr>
          </a:solidFill>
          <a:ln w="12700" cap="flat" cmpd="sng">
            <a:solidFill>
              <a:srgbClr val="C846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231900" y="4000500"/>
            <a:ext cx="4508500" cy="482600"/>
          </a:xfrm>
          <a:prstGeom prst="roundRect">
            <a:avLst>
              <a:gd name="adj" fmla="val 0"/>
            </a:avLst>
          </a:prstGeom>
          <a:solidFill>
            <a:srgbClr val="C8464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295400" y="40132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0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Q：物理文件一定要二进制格式吗？</a:t>
            </a:r>
            <a:endParaRPr lang="en-US" sz="1400" b="1" i="0" u="none" strike="noStrike">
              <a:solidFill>
                <a:srgbClr val="A0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295400" y="4508500"/>
            <a:ext cx="438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这是硬性要求：</a:t>
            </a:r>
            <a:r>
              <a:rPr lang="en-US" sz="1200" b="1" i="0" u="none" strike="noStrike">
                <a:solidFill>
                  <a:srgbClr val="C8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必须使用二进制文件</a:t>
            </a: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。如果使用文本文件存储数据，将被判定为不合规，在“持久化存储”部分会扣除10分。二进制格式能更真实地模拟磁盘数据存储方式，也能更好地处理复杂数据结构的读写。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994400" y="4000500"/>
            <a:ext cx="4508500" cy="2159000"/>
          </a:xfrm>
          <a:prstGeom prst="roundRect">
            <a:avLst>
              <a:gd name="adj" fmla="val 0"/>
            </a:avLst>
          </a:prstGeom>
          <a:solidFill>
            <a:srgbClr val="16583D">
              <a:alpha val="8000"/>
            </a:srgbClr>
          </a:solidFill>
          <a:ln w="12700" cap="flat" cmpd="sng">
            <a:solidFill>
              <a:srgbClr val="1658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5994400" y="4000500"/>
            <a:ext cx="4508500" cy="482600"/>
          </a:xfrm>
          <a:prstGeom prst="roundRect">
            <a:avLst>
              <a:gd name="adj" fmla="val 0"/>
            </a:avLst>
          </a:prstGeom>
          <a:solidFill>
            <a:srgbClr val="16583D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057900" y="40132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3A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Q：多实例共享物理文件如何实现？</a:t>
            </a:r>
            <a:endParaRPr lang="en-US" sz="1400" b="1" i="0" u="none" strike="noStrike">
              <a:solidFill>
                <a:srgbClr val="0E3A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057900" y="4508500"/>
            <a:ext cx="438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推荐简单高效方案：后台启动守护线程定期检查物理文件的修改时间戳，若检测到文件内容发生变化则自动重新加载数据。同时，引入文件锁机制（如独占锁），确保同一时刻只有一个实例拥有写权限，避免多进程同时写入造成的数据错乱问题。</a:t>
            </a:r>
            <a:endParaRPr lang="en-US" sz="12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2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3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4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5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6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7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8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9.xml><?xml version="1.0" encoding="utf-8"?>
<p:tagLst xmlns:p="http://schemas.openxmlformats.org/presentationml/2006/main">
  <p:tag name="KSO_WM_DIAGRAM_VIRTUALLY_FRAME" val="{&quot;height&quot;:145,&quot;left&quot;:97,&quot;top&quot;:205,&quot;width&quot;:779}"/>
</p:tagLst>
</file>

<file path=ppt/tags/tag10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1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2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3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4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5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6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7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8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19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20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21.xml><?xml version="1.0" encoding="utf-8"?>
<p:tagLst xmlns:p="http://schemas.openxmlformats.org/presentationml/2006/main">
  <p:tag name="KSO_WM_DIAGRAM_VIRTUALLY_FRAME" val="{&quot;height&quot;:175,&quot;left&quot;:97,&quot;top&quot;:125,&quot;width&quot;:774}"/>
</p:tagLst>
</file>

<file path=ppt/tags/tag22.xml><?xml version="1.0" encoding="utf-8"?>
<p:tagLst xmlns:p="http://schemas.openxmlformats.org/presentationml/2006/main">
  <p:tag name="commondata" val="eyJoZGlkIjoiMDdkMWQyZjUyZmI3NTdmMWY0MzBlM2IzZGJiYTQx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8726</Words>
  <Application>WPS 演示</Application>
  <PresentationFormat/>
  <Paragraphs>514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Noto Sans SC</vt:lpstr>
      <vt:lpstr>Consolas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拂岸夕茵</cp:lastModifiedBy>
  <cp:revision>6</cp:revision>
  <dcterms:created xsi:type="dcterms:W3CDTF">2026-05-31T13:04:00Z</dcterms:created>
  <dcterms:modified xsi:type="dcterms:W3CDTF">2026-06-01T01:54:52Z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{"Label":"1","ContentProducer":"001191110102MACQD9K64010000","ProduceID":"7646040901706386391","ReservedCode1":"","ContentPropagator":"","PropagateID":"","ReservedCode2":""}</vt:lpwstr>
  </property>
  <property fmtid="{D5CDD505-2E9C-101B-9397-08002B2CF9AE}" pid="3" name="ICV">
    <vt:lpwstr>7AC2F86E3FA24242B09CC60081BC5150_12</vt:lpwstr>
  </property>
  <property fmtid="{D5CDD505-2E9C-101B-9397-08002B2CF9AE}" pid="4" name="KSOProductBuildVer">
    <vt:lpwstr>2052-12.1.0.18608</vt:lpwstr>
  </property>
</Properties>
</file>